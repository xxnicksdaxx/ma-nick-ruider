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1" r:id="rId1"/>
  </p:sldMasterIdLst>
  <p:notesMasterIdLst>
    <p:notesMasterId r:id="rId48"/>
  </p:notesMasterIdLst>
  <p:handoutMasterIdLst>
    <p:handoutMasterId r:id="rId49"/>
  </p:handoutMasterIdLst>
  <p:sldIdLst>
    <p:sldId id="319" r:id="rId2"/>
    <p:sldId id="348" r:id="rId3"/>
    <p:sldId id="398" r:id="rId4"/>
    <p:sldId id="346" r:id="rId5"/>
    <p:sldId id="399" r:id="rId6"/>
    <p:sldId id="405" r:id="rId7"/>
    <p:sldId id="401" r:id="rId8"/>
    <p:sldId id="403" r:id="rId9"/>
    <p:sldId id="402" r:id="rId10"/>
    <p:sldId id="397" r:id="rId11"/>
    <p:sldId id="404" r:id="rId12"/>
    <p:sldId id="407" r:id="rId13"/>
    <p:sldId id="409" r:id="rId14"/>
    <p:sldId id="410" r:id="rId15"/>
    <p:sldId id="406" r:id="rId16"/>
    <p:sldId id="396" r:id="rId17"/>
    <p:sldId id="412" r:id="rId18"/>
    <p:sldId id="418" r:id="rId19"/>
    <p:sldId id="420" r:id="rId20"/>
    <p:sldId id="421" r:id="rId21"/>
    <p:sldId id="411" r:id="rId22"/>
    <p:sldId id="422" r:id="rId23"/>
    <p:sldId id="423" r:id="rId24"/>
    <p:sldId id="424" r:id="rId25"/>
    <p:sldId id="428" r:id="rId26"/>
    <p:sldId id="395" r:id="rId27"/>
    <p:sldId id="347" r:id="rId28"/>
    <p:sldId id="416" r:id="rId29"/>
    <p:sldId id="426" r:id="rId30"/>
    <p:sldId id="415" r:id="rId31"/>
    <p:sldId id="328" r:id="rId32"/>
    <p:sldId id="327" r:id="rId33"/>
    <p:sldId id="437" r:id="rId34"/>
    <p:sldId id="436" r:id="rId35"/>
    <p:sldId id="438" r:id="rId36"/>
    <p:sldId id="439" r:id="rId37"/>
    <p:sldId id="440" r:id="rId38"/>
    <p:sldId id="427" r:id="rId39"/>
    <p:sldId id="441" r:id="rId40"/>
    <p:sldId id="432" r:id="rId41"/>
    <p:sldId id="433" r:id="rId42"/>
    <p:sldId id="434" r:id="rId43"/>
    <p:sldId id="435" r:id="rId44"/>
    <p:sldId id="429" r:id="rId45"/>
    <p:sldId id="430" r:id="rId46"/>
    <p:sldId id="431" r:id="rId47"/>
  </p:sldIdLst>
  <p:sldSz cx="12192000" cy="6858000"/>
  <p:notesSz cx="6858000" cy="9144000"/>
  <p:embeddedFontLst>
    <p:embeddedFont>
      <p:font typeface="Open Sans" panose="020B0606030504020204" pitchFamily="34" charset="0"/>
      <p:regular r:id="rId50"/>
      <p:bold r:id="rId51"/>
      <p:italic r:id="rId52"/>
      <p:boldItalic r:id="rId53"/>
    </p:embeddedFont>
  </p:embeddedFontLst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939B5E8-EF71-43FF-B7B6-C3DB42F2B419}">
          <p14:sldIdLst>
            <p14:sldId id="319"/>
            <p14:sldId id="348"/>
            <p14:sldId id="398"/>
          </p14:sldIdLst>
        </p14:section>
        <p14:section name="Background" id="{5FA3059E-8977-4C45-83B3-A3F597CA6CB7}">
          <p14:sldIdLst>
            <p14:sldId id="346"/>
            <p14:sldId id="399"/>
            <p14:sldId id="405"/>
            <p14:sldId id="401"/>
            <p14:sldId id="403"/>
            <p14:sldId id="402"/>
          </p14:sldIdLst>
        </p14:section>
        <p14:section name="Research Gap" id="{E28903B1-5B5E-4674-A5C2-48C41DC1D357}">
          <p14:sldIdLst>
            <p14:sldId id="397"/>
            <p14:sldId id="404"/>
            <p14:sldId id="407"/>
            <p14:sldId id="409"/>
            <p14:sldId id="410"/>
            <p14:sldId id="406"/>
          </p14:sldIdLst>
        </p14:section>
        <p14:section name="Implementation" id="{3A4E266A-FCE3-4047-BBD1-75B06B93C606}">
          <p14:sldIdLst>
            <p14:sldId id="396"/>
            <p14:sldId id="412"/>
            <p14:sldId id="418"/>
            <p14:sldId id="420"/>
            <p14:sldId id="421"/>
            <p14:sldId id="411"/>
            <p14:sldId id="422"/>
            <p14:sldId id="423"/>
            <p14:sldId id="424"/>
            <p14:sldId id="428"/>
          </p14:sldIdLst>
        </p14:section>
        <p14:section name="Demo" id="{0057CB6B-3FC8-4732-B806-B4C0E2635691}">
          <p14:sldIdLst>
            <p14:sldId id="395"/>
            <p14:sldId id="347"/>
            <p14:sldId id="416"/>
            <p14:sldId id="426"/>
            <p14:sldId id="415"/>
          </p14:sldIdLst>
        </p14:section>
        <p14:section name="Final" id="{AA2A661F-9B7C-49E2-B464-68A6AF852364}">
          <p14:sldIdLst>
            <p14:sldId id="328"/>
            <p14:sldId id="327"/>
            <p14:sldId id="437"/>
          </p14:sldIdLst>
        </p14:section>
        <p14:section name="Appendix" id="{21E395FB-D8DC-486A-BDFD-D2FAF9381051}">
          <p14:sldIdLst>
            <p14:sldId id="436"/>
            <p14:sldId id="438"/>
            <p14:sldId id="439"/>
            <p14:sldId id="440"/>
            <p14:sldId id="427"/>
            <p14:sldId id="441"/>
            <p14:sldId id="432"/>
            <p14:sldId id="433"/>
            <p14:sldId id="434"/>
            <p14:sldId id="435"/>
            <p14:sldId id="429"/>
            <p14:sldId id="430"/>
            <p14:sldId id="43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>
    <p:extLst>
      <p:ext uri="{19B8F6BF-5375-455C-9EA6-DF929625EA0E}">
        <p15:presenceInfo xmlns:p15="http://schemas.microsoft.com/office/powerpoint/2012/main" userId="S-1-5-21-1982228756-150042506-1537001085-188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EB3"/>
    <a:srgbClr val="5D708C"/>
    <a:srgbClr val="17828E"/>
    <a:srgbClr val="0E7089"/>
    <a:srgbClr val="CD1719"/>
    <a:srgbClr val="DE2526"/>
    <a:srgbClr val="951B81"/>
    <a:srgbClr val="59358C"/>
    <a:srgbClr val="FFFFFF"/>
    <a:srgbClr val="006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6949" autoAdjust="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very warm welcome everyone and thank you for being here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my name is Nick and today I am excited to defend my master thesis on </a:t>
            </a:r>
            <a:r>
              <a:rPr lang="en-US" dirty="0"/>
              <a:t>Graphical Management of Multiple Runtime Models to Improve the Comprehension of Contextual Behavioral Programs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1245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I will begin by outlining the structure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first, I will outline the primary research questions I investigated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next, I will establish the theoretical foundation by briefly explaining the three core domains of this work: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Behavioral Programming (short BP), the Universal Variability Language (short UVL) and the framework Graphical Language Server Platform (short GLSP)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following that, I will review the current state of the art regarding existing tooling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specifically focusing on Tom’s FMBP framework as a foundational piece of this thesis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I’ll also highlight the resulting research gap that this thesis addresses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I will then detail the implementation of the proposed tool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finally, I will provide a short demo, before concluding with an evaluation of the results and a brief discussion on potential future avenues of work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30972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0E24-7BCF-C2D2-5EE0-BACBD664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EDEE0D-BFC5-F89C-4F80-0465B65FF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50B6D9-5AB3-EAF9-5D22-7751C888C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driven by the need to improve the comprehension of behavioral programs at runtime, I want to answer four primary research questions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first, feasibility: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 investigate how a graphical visualization of UVL feature models can enhance the comprehension of contextual behavioral programs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second, extensibility: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 examine how to design the tool's architecture so that BP concepts can be integrated without sacrificing future extensibility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third, runtime synchronization: I leverage a </a:t>
            </a:r>
            <a:r>
              <a:rPr lang="en-US" noProof="0" dirty="0" err="1"/>
              <a:t>models@run.time</a:t>
            </a:r>
            <a:r>
              <a:rPr lang="en-US" noProof="0" dirty="0"/>
              <a:t> approach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this means the graphical model and the executing system are causally connected—any change in one should be reflected in the other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 split this into two parts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3.1: how to automatically reflect live, runtime changes of the behavioral program directly in the graphical view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3.2: how to translate direct user interactions with the diagram back into valid, real-time modifications of the underlying behavioral program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together, these questions establish the framework for both the implementation and the evaluation at the end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CCF227-A4D7-FEC1-EB43-C6DB9F436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6058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1833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ADDCF-CA85-5423-7818-B9312F63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7C67DC-22B1-31F7-46DA-AD5678E41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2EBCA64-CFD2-6868-84C5-5607CA99C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the thesis heavily revolves around Behavioral programming as the main software development paradigm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It is scenario-based meaning that use cases and scenarios defined by the user should be elevated into first-class executable constructs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behavioral threads (b-threads) are the main building blocks of this approach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each b-thread represents a distinct requirement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all b-threads are independent decoupled modules running concurrently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to communicate, b-threads leverage an enhanced publish-subscribe protocol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at a synchronization point, the program suspends execution until the b-events submitted by the b-threads are evaluated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there are three types:</a:t>
            </a:r>
          </a:p>
          <a:p>
            <a:pPr marL="1085850" lvl="2" indent="-171450">
              <a:buFontTx/>
              <a:buChar char="-"/>
            </a:pPr>
            <a:r>
              <a:rPr lang="en-US" noProof="0" dirty="0"/>
              <a:t>requested proposes the execution of this event</a:t>
            </a:r>
          </a:p>
          <a:p>
            <a:pPr marL="1085850" lvl="2" indent="-171450">
              <a:buFontTx/>
              <a:buChar char="-"/>
            </a:pPr>
            <a:r>
              <a:rPr lang="en-US" noProof="0" dirty="0"/>
              <a:t>waited-for events ask to be notified when a certain b-event is successfully requested</a:t>
            </a:r>
          </a:p>
          <a:p>
            <a:pPr marL="1085850" lvl="2" indent="-171450">
              <a:buFontTx/>
              <a:buChar char="-"/>
            </a:pPr>
            <a:r>
              <a:rPr lang="en-US" noProof="0" dirty="0"/>
              <a:t>blocked acts as a veto against the execution of an event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while standard BP encapsulates state entirely within local b-threads, Context-Oriented BP introduces a global system state and dynamic environmental data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allowing b-threads to conditionally trigger based on environmental context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582291-BD5A-83FF-1826-D43D10E78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0430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2247A-E97B-B45C-FB51-A95194074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DBFD859-8F28-27BC-ED57-2E3631E47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0922080-CB66-AC68-6F53-470C8C906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to</a:t>
            </a:r>
            <a:r>
              <a:rPr lang="de-DE" dirty="0"/>
              <a:t> illustrate BP, </a:t>
            </a:r>
            <a:r>
              <a:rPr lang="en-US" noProof="0" dirty="0"/>
              <a:t>let‘s look at the water tank example, a system maintaining a target water level and temperature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each requirement of the water tank is managed by an </a:t>
            </a:r>
            <a:r>
              <a:rPr lang="en-US" noProof="0" dirty="0" err="1"/>
              <a:t>indepenedent</a:t>
            </a:r>
            <a:r>
              <a:rPr lang="en-US" noProof="0" dirty="0"/>
              <a:t> b-thread</a:t>
            </a:r>
          </a:p>
          <a:p>
            <a:pPr marL="628650" lvl="1" indent="-171450">
              <a:buFontTx/>
              <a:buChar char="-"/>
            </a:pPr>
            <a:r>
              <a:rPr lang="en-US" noProof="0" dirty="0" err="1"/>
              <a:t>AddHot</a:t>
            </a:r>
            <a:r>
              <a:rPr lang="en-US" noProof="0" dirty="0"/>
              <a:t> manages the hot-water tap</a:t>
            </a:r>
          </a:p>
          <a:p>
            <a:pPr marL="628650" lvl="1" indent="-171450">
              <a:buFontTx/>
              <a:buChar char="-"/>
            </a:pPr>
            <a:r>
              <a:rPr lang="en-US" noProof="0" dirty="0" err="1"/>
              <a:t>AddCold</a:t>
            </a:r>
            <a:r>
              <a:rPr lang="en-US" noProof="0" dirty="0"/>
              <a:t> manages the cold-water tap</a:t>
            </a:r>
          </a:p>
          <a:p>
            <a:pPr marL="628650" lvl="1" indent="-171450">
              <a:buFontTx/>
              <a:buChar char="-"/>
            </a:pPr>
            <a:r>
              <a:rPr lang="en-US" noProof="0" dirty="0" err="1"/>
              <a:t>RemoveWater</a:t>
            </a:r>
            <a:r>
              <a:rPr lang="en-US" noProof="0" dirty="0"/>
              <a:t> requests the drain event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the control tank acts as a supervisor, enforcing operational limits by blocking specific events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here</a:t>
            </a:r>
            <a:r>
              <a:rPr lang="de-DE" dirty="0"/>
              <a:t>, </a:t>
            </a:r>
            <a:r>
              <a:rPr lang="en-US" dirty="0"/>
              <a:t>the temperature is too hot and the water level is too low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the events HOT &amp; DRAIN are blocked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at a synchronization point, only the b-event COLD gets requested, adding cold water to the tank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A9241D-2AE6-0674-29CF-1D02DCB8D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6340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DC7CA-50A9-7A6B-5872-0C61ECB7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6B2D90F-F05F-21E5-8031-FC42F29EA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068B32A-BDED-F020-5319-CF82AB0FC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next, let's look at how we can manage software product lines by modeling the commonalities and variabilities within a software product family</a:t>
            </a:r>
          </a:p>
          <a:p>
            <a:pPr marL="171450" indent="-171450">
              <a:buFontTx/>
              <a:buChar char="-"/>
            </a:pPr>
            <a:r>
              <a:rPr lang="en-US" dirty="0"/>
              <a:t>most commonly, this variability is structured as a feature tree, which is a hierarchically arranged collection of features</a:t>
            </a:r>
          </a:p>
          <a:p>
            <a:pPr marL="171450" indent="-171450">
              <a:buFontTx/>
              <a:buChar char="-"/>
            </a:pPr>
            <a:r>
              <a:rPr lang="en-US" dirty="0"/>
              <a:t>at its core, it relies on basic parent-child relationships such as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mandatory and optional child features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but also feature groups like alternative (where only one feature of the group may be active)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or the </a:t>
            </a:r>
            <a:r>
              <a:rPr lang="en-US" i="1" dirty="0"/>
              <a:t>or</a:t>
            </a:r>
            <a:r>
              <a:rPr lang="en-US" dirty="0"/>
              <a:t> relationship (which requires at least one active sub feature)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other dependencies can be captured by using cross-tree constraints like requires and excludes, but also more complex constraints depending on the complexity of the feature tree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extended feature models may also include cardinality-based relationships for both a single feature and a group of features …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… but also feature attributes to add metadata to a feature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these attributes can then be used for complex constraints, for example</a:t>
            </a:r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crucially, the Universal Variability Language acts as a standardized architectural description language to model such feature trees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10AC9F-D212-977E-0E47-3DD38CF8E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7184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936DD-F423-D423-E933-6911ABD8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DC3E14-E914-EB1F-F106-4F168B478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32A7940-97DF-2711-F2E3-A32275492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here we can see an example of a feature tree for an old mobile phone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it includes mandatory features like calling and a screen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but also, for example an optional GPS feature, which excludes the selection of a basic screen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the same feature tree can be modelled using UVL, which is displayed on the right side of the slide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it includes the hierarchical structure of the feature tree and also the cross-tree constraints at the bottom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36745D-C0F8-83B4-64A2-7B94CAA2F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0537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D306-FA93-D9B9-FFB8-76C02A4D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395439-0DA1-100E-BF79-022A19D0E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22A08AE-3BDD-8521-F626-EF36B8A06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the technical foundation for this thesis is the Graphical Language Server Platform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it is an open-source framework by Eclipse for building web-based diagram editors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it follows a similar architectural pattern to the widely used Language Server Protocol but applies it to graphical modeling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the server is responsible for model management, editing logic and the transformation of the underlying semantic source models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the source model must be transformed into the Graphical Model (called GModel) of GLSP, which is sent to the client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the client renders the visual diagram typically as SVG using Eclipse </a:t>
            </a:r>
            <a:r>
              <a:rPr lang="en-US" noProof="0" dirty="0" err="1"/>
              <a:t>Sprotty</a:t>
            </a:r>
            <a:endParaRPr lang="en-US" noProof="0" dirty="0"/>
          </a:p>
          <a:p>
            <a:pPr marL="171450" lvl="0" indent="-171450">
              <a:buFontTx/>
              <a:buChar char="-"/>
            </a:pPr>
            <a:r>
              <a:rPr lang="en-US" noProof="0" dirty="0"/>
              <a:t>client and server rely on an action-based communication via the JSON-RPC protocol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54CD1F-7D96-23F2-098F-86CB2330E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5350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7E755-8C83-D368-42F1-770856AFD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807D301-D81D-D6EA-C01F-EACB6B322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040310-3849-7841-708D-7B91ACA2A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- these were the three core domains addressed in the thesis – let‘s move on to the existing tools and the remaining research gap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294983-119B-F8C9-9C84-23CA0DCE3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620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1473-BC44-69E6-7485-22693FC1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0A18E4-8CF2-5DC1-8EC3-6D52C6842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AAD3B22-93B0-0763-2A48-AA5FCFACF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first, what are the existing tools available for feature modeling, based on UVL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a textual solution is the Universal Variability Language Server (UVLS)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implementation of the Language Server Protocol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it offers textual editing assistance and validation specifically for UVL feature models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on the left, we can see an example with UVLS, also marking the feature Cheddar as a “dead feature”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when it comes to a graphical solution, FeatureIDE stands as the benchmark academic framework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it covers the entire Feature-Oriented Software development workflow and offers native support for UVL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although, it is limited, for example it does not support cardinality-based modeling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A336DE2-33E8-8039-33D4-68EBFE386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5343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3ADF5-892C-7052-E2AE-8DE6D2D2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4F7F244-CF91-1069-FA40-1C584A86F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4764C1-430B-B127-B976-54671F084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for Behavioral Programming, there are also some existing tools</a:t>
            </a:r>
          </a:p>
          <a:p>
            <a:pPr marL="171450" lvl="0" indent="-171450">
              <a:buFontTx/>
              <a:buChar char="-"/>
            </a:pPr>
            <a:r>
              <a:rPr lang="en-US" noProof="0" dirty="0" err="1"/>
              <a:t>TraceVis</a:t>
            </a:r>
            <a:r>
              <a:rPr lang="en-US" noProof="0" dirty="0"/>
              <a:t> was published along the original paper about BP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it shows the state of a behavioral program over time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but it is a strict post-execution analysis tool using a trace file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an opposite approach is made by the BP runtime debugger which was developed by Tom at this chair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it hooks directly into a behavioral program and streams state data to the browser at every synchronization point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the approach provides runtime controls like those in symbolic debuggers, for example the ability to pause execution</a:t>
            </a:r>
            <a:endParaRPr lang="de-DE" dirty="0"/>
          </a:p>
          <a:p>
            <a:pPr marL="628650" lvl="1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F253A2-8D11-F8A4-9D45-1855D0D77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4164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20C7-DD28-6B7A-122C-E529372D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5763F8C-978B-4977-2C6B-9C902AD56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21E706D-2D8F-87C9-AE9B-BB6D28F26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an important tool used throughout this thesis is FMBP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it is a framework designed to improve the comprehensibility of behavioral programs at the architectural design phase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FMBP introduces an extended version of UVL to represent behavioral programs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b-threads are modelled as features with a designated type attribute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b-events can be added to b-threads as attributes, containing their information using sub attributes for the event type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the context of a behavioral program is represented by two additional top-level features, Config &amp; Environment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the extended UVL also introduces additional aggregate constraint functions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FMBP leverages this extended UVL model to create both an extension to the existing LSP and a python framework for running behavioral programs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the executed behavioral program is based on a UVL model file and can be updated through changes to the model itself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0C2E90-0DED-CCE2-02D6-FAAD77926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5248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2C465-88A5-1607-5CA2-43B3EF3A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A48834D-3642-0C08-36E2-AB8D85F36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D683F4-B617-B7CC-FA1C-D98916160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here is an example of an UVL model with behavioral programming elements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it‘s the water tank example we previously discussed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in line 4 to 7, we can see the b-threads with an additional type attribute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in each of them, we also have an event attribute with the actual type of the event which would be requested here and also a priority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in lines 8 to 9, we can see the additional contextual features for this model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and at the bottom, we can see some constraints using the additional functions for BP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FBF993-6C8F-8200-5F56-75F480625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27653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0DBD-334E-6EE0-C489-FA7158DF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C461676-FF54-C4D6-3459-26258F5E7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38177A4-248E-AF94-AB15-CC3482B76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as a result, there is a research gap that should be addressed by this thesis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 build directly on the FMBP framework as a foundational piece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using the proposed ADL for behavioral programs and its capability to execute those programs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however, FMBP is restricted entirely to a textual representation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on the other side, existing graphical solutions for UVL lack the language-level extensibility needed to incorporate behavioral elements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to address these limitations, I’ll leverage GLSP to develop a visual modeling environment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in doing so, the implementation remains with some technical challenges that need to be solved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first, Language Extensibility – so how can I design a clean architectural separation that allows me to extend the base UVL metamodel with BP concepts without tightly coupling them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second, runtime integration – how can I enable dynamic, bidirectional model synchronization between the running system and GLSP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E612E4-C9BA-F935-BC8B-42BBBF1F2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8466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ACFB1-5839-D76B-3BE3-FD51DCBC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11F7A90-82A5-F445-63A1-AA35E5DFC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224866E-5EBB-B857-80DA-39D1276E8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</a:t>
            </a:r>
            <a:r>
              <a:rPr lang="en-US" noProof="0" dirty="0"/>
              <a:t>so let‘s move on to the implementation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675E8D-6EF1-2C9F-DC7C-DEB052B09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016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E5CD-3EB0-DFDB-204B-1627CB36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0F92FE7-CFC7-51DD-BD1B-1DEC0E670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6F3E9EF-DC51-82D9-E7A4-B8FA6122F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first, I‘d like to present an overview of the selected framework structure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on client side, I use the VS-Code variant of GLSP as the supported IDE as it is widely used and supports the .</a:t>
            </a:r>
            <a:r>
              <a:rPr lang="en-US" noProof="0" dirty="0" err="1"/>
              <a:t>vsix</a:t>
            </a:r>
            <a:r>
              <a:rPr lang="en-US" noProof="0" dirty="0"/>
              <a:t> format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in this case, it enables me to create a clean separation between the base UVL tool and it’s BP-specific extension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on server side, we need to discuss the source model first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GLSP supports some source models out of the box, like the usage of EMF metamodels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in this case, this was not suitable to use because the UVL ecosystem provides some packages regarding UVL parsing already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 integrate the UVL parser based on an ANTLR grammar, parsing it to Java objects based on the java-fm-metamodel package provided by the maintainers of UVL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this library enables the GLSP server to load UVL models directly, modify them during editing operations, and re-serialize them back to UVL files as well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 adopt a custom dual-model approach, using the UVL file as the main source model and adding a visual layer to save notation data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therefore, the GLSP server must be implemented in the Java variant of GLSP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 behavioral programs shall be executed using FMBP because it uses the same UVL feature model loaded by GLSP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what’s missing are the runtime data updates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FMBP does not write back the changes made to the Env feature and, the selected b-events are not available in the UVL model itself anyway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to create a connection, I use server-sent events to push any useful data from FMBP to GLSP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SSE is a lightweight, unidirectional streaming protocol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FMBP exposes such an endpoint while running the behavioral program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GLSP connects to it and listens for incoming events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so this is the basic setup – let’s talk about each component separately</a:t>
            </a:r>
            <a:endParaRPr lang="de-DE" dirty="0"/>
          </a:p>
          <a:p>
            <a:pPr marL="628650" lvl="1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93E2DE-EBDA-CC62-F178-CC5514667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3543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6E0C-1019-3687-6B78-065A5FE6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3E36FE-9A8F-C76C-7C3D-DD910A820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1D2A369-C1A3-F6CE-31F9-2F6E47DEE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to extend the UVL metamodel, changes are needed for both the UVL-parser and the java metamodel library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the ANTLR grammar already supports b-threads and b-events using the common attributes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but it does not support multiple top-level features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this is needed for the contextual features Env &amp; Config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therefore, I added a new rule to the ANTLR grammar so these features are allowed as well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the additional BP constraints need to be added to the grammar as well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as an example, the conflicting constraint is defined to support multiple references in its aggregate function style</a:t>
            </a:r>
          </a:p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B044EF-32D4-3149-429C-B538F863C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067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AB3F1-BECB-7268-483A-09A8E7F0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00834FC-A113-F220-EF25-7197BEBB9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1624124-93F1-6950-C624-392DFF84C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D4F4CA-D861-BEA3-82A0-DF403B7CD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63898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8F1D0-D637-13B5-CEDB-84445A16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9574DFB-43BB-7B0B-CB4E-1574F51E7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D71F705-E0FD-15CB-299E-1279F7836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Tx/>
              <a:buChar char="-"/>
            </a:pPr>
            <a:r>
              <a:rPr lang="en-US" noProof="0" dirty="0"/>
              <a:t>the java metamodel needs to be adjusted accordingly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 extended the existing FeatureModel class to a BPFeatureModel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this includes the contextual feature objects in specific attributes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also, I created classes for each constraint added through BP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example: </a:t>
            </a:r>
            <a:r>
              <a:rPr lang="en-US" noProof="0" dirty="0" err="1"/>
              <a:t>ConflictingConstraint</a:t>
            </a:r>
            <a:r>
              <a:rPr lang="en-US" noProof="0" dirty="0"/>
              <a:t> which includes the sub elements as references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1E6C6F-9D71-9E6F-9FA6-FAE155345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25881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6A9F-F06B-138D-241C-0ABD44603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15C5C65-E420-8A5D-BF53-A3C090D2C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ED28857-DEA3-17AA-18AE-70AF983CF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to enable the </a:t>
            </a:r>
            <a:r>
              <a:rPr lang="en-US" noProof="0" dirty="0" err="1"/>
              <a:t>models@run.time</a:t>
            </a:r>
            <a:r>
              <a:rPr lang="en-US" noProof="0" dirty="0"/>
              <a:t> approach, I also extended the FMBP framework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the added functionality addresses the missing link from the behavioral program to the graphical view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the other direction is covered already through the usage of FMBP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the framework already supports modifications to the UVL file config and constraints at runtime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because the GLSP will run on the exact same UVL model file, changes in the graphical view will be reflected in the behavioral program as well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but let’s discuss the other directional link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the main configuration class of FMBP receives the option to add additional extensions that may be injected at startup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in this case, I created the </a:t>
            </a:r>
            <a:r>
              <a:rPr lang="en-US" noProof="0" dirty="0" err="1"/>
              <a:t>BEventStreamerExtension</a:t>
            </a:r>
            <a:r>
              <a:rPr lang="en-US" noProof="0" dirty="0"/>
              <a:t> which uses the hook when a b-event is selected to parse the information and send it via SSE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additionally, FMBP contains the context source which contains the current contextual data of the running program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using the decorator design pattern, it also pushes this data via SSE to GLSP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to ease the setup of GLSP, there is only one SSE server endpoint so it is not needed to provide a </a:t>
            </a:r>
            <a:r>
              <a:rPr lang="en-US" noProof="0" dirty="0" err="1"/>
              <a:t>differentport</a:t>
            </a:r>
            <a:r>
              <a:rPr lang="en-US" noProof="0" dirty="0"/>
              <a:t> to each GLSP instance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to map the correct UVL model to the GLSP, the model path is also part of each SSE message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in the diagram, we can see the basic setup of this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136133-76A1-C6C0-ADEF-40ACFDF81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48149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91A9-15F3-8F8F-A7C1-8126EA2D3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6E03CC2-0256-2D4C-902D-7B9A024F0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13594E-085E-980E-DD8E-AD710009C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one goal of the thesis was also to keep the project extendable and not tightly couple the BP packages to UVL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therefore, on server side, I created a distinct UVL GLSP implementation using the UVL metamodel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another package for UVL BP extends the already implemented GLSP server and adapts it where needed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as a result, there are two different GLSP jar files that may be used by the VS Code extension</a:t>
            </a:r>
          </a:p>
          <a:p>
            <a:pPr marL="171450" indent="-171450">
              <a:buFontTx/>
              <a:buChar char="-"/>
            </a:pPr>
            <a:endParaRPr lang="en-US" noProof="0" dirty="0"/>
          </a:p>
          <a:p>
            <a:pPr marL="171450" indent="-171450">
              <a:buFontTx/>
              <a:buChar char="-"/>
            </a:pPr>
            <a:r>
              <a:rPr lang="en-US" noProof="0" dirty="0"/>
              <a:t>on client side, a multi-profile approach was taken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I created several packages each responsible for a different task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to prevent the duplication of the VS Code related package, I leverage profiles that inject packages at runtime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for example, the UVL profile only needs the UVL core defining the visual representation of the elements and the uvl commands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the UVL BP profile needs additional implementations for the visuals and also an additional commands package for the SSE communication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additionally, I append the relevant server JAR to each profile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therefore, I can package two different VS Code extensions from the same code base</a:t>
            </a:r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13853F-A3D2-5C13-8A47-17EBD4545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7601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7350-54FA-98DA-044D-41D0070FC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7DB4B8B-AA3B-00F9-A55E-836A2B534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0A336F3-4094-A724-C0E4-59A601113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as</a:t>
            </a:r>
            <a:r>
              <a:rPr lang="de-DE" dirty="0"/>
              <a:t> an </a:t>
            </a:r>
            <a:r>
              <a:rPr lang="de-DE" dirty="0" err="1"/>
              <a:t>example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GLSP </a:t>
            </a:r>
            <a:r>
              <a:rPr lang="de-DE" dirty="0" err="1"/>
              <a:t>server</a:t>
            </a:r>
            <a:r>
              <a:rPr lang="de-DE" dirty="0"/>
              <a:t> </a:t>
            </a:r>
            <a:r>
              <a:rPr lang="de-DE" dirty="0" err="1"/>
              <a:t>uses</a:t>
            </a:r>
            <a:r>
              <a:rPr lang="de-DE" dirty="0"/>
              <a:t> a </a:t>
            </a:r>
            <a:r>
              <a:rPr lang="de-DE" dirty="0" err="1"/>
              <a:t>central</a:t>
            </a:r>
            <a:r>
              <a:rPr lang="de-DE" dirty="0"/>
              <a:t> UVL </a:t>
            </a:r>
            <a:r>
              <a:rPr lang="de-DE" dirty="0" err="1"/>
              <a:t>Diagram</a:t>
            </a:r>
            <a:r>
              <a:rPr lang="de-DE" dirty="0"/>
              <a:t> Module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handler</a:t>
            </a:r>
            <a:r>
              <a:rPr lang="de-DE" dirty="0"/>
              <a:t>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injected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excerpt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see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binding</a:t>
            </a:r>
            <a:r>
              <a:rPr lang="de-DE" dirty="0"/>
              <a:t> of </a:t>
            </a:r>
            <a:r>
              <a:rPr lang="de-DE" dirty="0" err="1"/>
              <a:t>the</a:t>
            </a:r>
            <a:r>
              <a:rPr lang="de-DE" dirty="0"/>
              <a:t> UVL source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storage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also, </a:t>
            </a:r>
            <a:r>
              <a:rPr lang="de-DE" dirty="0" err="1"/>
              <a:t>the</a:t>
            </a:r>
            <a:r>
              <a:rPr lang="de-DE" dirty="0"/>
              <a:t> relevant </a:t>
            </a:r>
            <a:r>
              <a:rPr lang="de-DE" dirty="0" err="1"/>
              <a:t>operation</a:t>
            </a:r>
            <a:r>
              <a:rPr lang="de-DE" dirty="0"/>
              <a:t> </a:t>
            </a:r>
            <a:r>
              <a:rPr lang="de-DE" dirty="0" err="1"/>
              <a:t>handlers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1238D9-1429-0F98-B44F-CA067B021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97999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AF40-7D14-1A28-7174-464B2F7D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DA756D1-78F0-1C55-9EB2-667C2B3A4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21E484F-070A-BEBB-02CC-F53FD8C3B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the</a:t>
            </a:r>
            <a:r>
              <a:rPr lang="de-DE" dirty="0"/>
              <a:t> BP </a:t>
            </a:r>
            <a:r>
              <a:rPr lang="de-DE" dirty="0" err="1"/>
              <a:t>diagram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dedicated</a:t>
            </a:r>
            <a:r>
              <a:rPr lang="de-DE" dirty="0"/>
              <a:t> BP </a:t>
            </a:r>
            <a:r>
              <a:rPr lang="de-DE" dirty="0" err="1"/>
              <a:t>package</a:t>
            </a:r>
            <a:r>
              <a:rPr lang="de-DE" dirty="0"/>
              <a:t> </a:t>
            </a:r>
            <a:r>
              <a:rPr lang="de-DE" dirty="0" err="1"/>
              <a:t>takes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UVLDiagramModule</a:t>
            </a:r>
            <a:r>
              <a:rPr lang="de-DE" dirty="0"/>
              <a:t> and </a:t>
            </a:r>
            <a:r>
              <a:rPr lang="de-DE" dirty="0" err="1"/>
              <a:t>adjusted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the</a:t>
            </a:r>
            <a:r>
              <a:rPr lang="de-DE" dirty="0"/>
              <a:t> source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storage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overridden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BP </a:t>
            </a:r>
            <a:r>
              <a:rPr lang="de-DE" dirty="0" err="1"/>
              <a:t>parsing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 of </a:t>
            </a:r>
            <a:r>
              <a:rPr lang="de-DE" dirty="0" err="1"/>
              <a:t>the</a:t>
            </a:r>
            <a:r>
              <a:rPr lang="de-DE" dirty="0"/>
              <a:t> UVL </a:t>
            </a:r>
            <a:r>
              <a:rPr lang="de-DE" dirty="0" err="1"/>
              <a:t>metamodel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GModelState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overridden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BPFeatureModel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of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base</a:t>
            </a:r>
            <a:r>
              <a:rPr lang="de-DE" dirty="0"/>
              <a:t> feature </a:t>
            </a:r>
            <a:r>
              <a:rPr lang="de-DE" dirty="0" err="1"/>
              <a:t>model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operation</a:t>
            </a:r>
            <a:r>
              <a:rPr lang="de-DE" dirty="0"/>
              <a:t> </a:t>
            </a:r>
            <a:r>
              <a:rPr lang="de-DE" dirty="0" err="1"/>
              <a:t>handlers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rebound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added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EA5C20-2DD1-2C6F-C5C8-382C270F3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73010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7570B-9BCB-0736-FACA-9ACB6367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4D6D90A-76AB-B40D-1961-A229FC1FC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3D20FE3-87DC-BD5E-AF8E-5677BA90E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noProof="0" dirty="0"/>
              <a:t>on client side, this injection based approach is quite similar so I won‘t be looking into this in detail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noProof="0" dirty="0"/>
              <a:t>I want to show how the profiles work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noProof="0" dirty="0"/>
              <a:t>here we can see the definition of the base UVL extension with its metadata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noProof="0" dirty="0"/>
              <a:t>it also contains the reference to the server path and the needed modules that should be injected at build-time</a:t>
            </a:r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640ED1-0645-CA7D-6C87-21F86D1F5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86494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D4AC-A718-BFC6-4442-DA08CE95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DEA09A-0B90-12AE-5117-BD95387F5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12E827-FF93-1657-57A9-84FEBDC91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59D8E2-683A-6B53-A86E-05B77255F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07326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1032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33763-2BE1-2CD7-5D04-1BB130BD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CFB2D6-E14B-AD41-D65E-BF320D612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F2A19A-747C-05A4-A84B-64B57861D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236F48-52AF-E730-EBC0-21DD7DD38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90947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F4B6-3E88-C831-EE86-C8B4045C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EB929B3-8A33-44B4-290F-8A3D2547E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ABAA01-7CB4-B547-73F1-426C43798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finally, let‘s talk about the contributions made through this thesis</a:t>
            </a:r>
          </a:p>
          <a:p>
            <a:pPr marL="171450" indent="-171450">
              <a:buFontTx/>
              <a:buChar char="-"/>
            </a:pPr>
            <a:r>
              <a:rPr lang="en-US" noProof="0" dirty="0" err="1"/>
              <a:t>feasability</a:t>
            </a:r>
            <a:r>
              <a:rPr lang="en-US" noProof="0" dirty="0"/>
              <a:t> was answered by creating a graphical editor based on GLSP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it supports modeling of contextual BP models through UVL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extensibility is covered as well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architecture separates core UVL modeling from the BP extension using profiles and distinct packages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last but not least, the </a:t>
            </a:r>
            <a:r>
              <a:rPr lang="en-US" noProof="0" dirty="0" err="1"/>
              <a:t>models@run.time</a:t>
            </a:r>
            <a:r>
              <a:rPr lang="en-US" noProof="0" dirty="0"/>
              <a:t> approach was also implemented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 extended FMBP to provide the necessary runtime information of the behavioral program to the graphical view using SSE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in the other direction, changes made to the UVL model are applied to FMBP directly by using the same underlying model file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7691AC-12A8-B6EB-0FDD-28E2CABE9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1222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4159-4C05-FE1B-F04E-451EE18D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22DCC6F-EF77-D259-1316-A42FA7232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0D07F9-2CA5-7390-05DE-C184C3239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noProof="0" dirty="0"/>
              <a:t>the resulting tool chain is a proof-of-concept that still has a lot of potential avenues for future work</a:t>
            </a:r>
          </a:p>
          <a:p>
            <a:pPr marL="171450" indent="-171450">
              <a:buFontTx/>
              <a:buChar char="-"/>
            </a:pPr>
            <a:r>
              <a:rPr lang="en-US" noProof="0" dirty="0"/>
              <a:t>performance is probably the main issue</a:t>
            </a:r>
          </a:p>
          <a:p>
            <a:pPr marL="628650" lvl="1" indent="-171450">
              <a:buFontTx/>
              <a:buChar char="-"/>
            </a:pPr>
            <a:r>
              <a:rPr lang="en-US" noProof="0" dirty="0"/>
              <a:t>for example, the communication flow can be optimized by creating a dedicated action for updating the environment feature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the architecture could also be improved, for example through smaller modules or splitting the UVL metamodel into a distinct BP variant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the visuals of the editor might be improvable, especially for the constraint box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testing is missing for now, but there is a playwright implementation for GLSP that might be useful for end-to-end tests</a:t>
            </a:r>
          </a:p>
          <a:p>
            <a:pPr marL="171450" lvl="0" indent="-171450">
              <a:buFontTx/>
              <a:buChar char="-"/>
            </a:pPr>
            <a:r>
              <a:rPr lang="en-US" noProof="0" dirty="0"/>
              <a:t>and at the end, other domains based on UVL feature models could be added through the creation of a new VS Code extension</a:t>
            </a:r>
          </a:p>
          <a:p>
            <a:pPr marL="171450" indent="-171450">
              <a:buFontTx/>
              <a:buChar char="-"/>
            </a:pPr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4ACA2F-B486-25DA-02B5-C5EEA5DEB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16071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</a:t>
            </a:r>
            <a:r>
              <a:rPr lang="de-DE" dirty="0" err="1"/>
              <a:t>that‘s</a:t>
            </a:r>
            <a:r>
              <a:rPr lang="de-DE" dirty="0"/>
              <a:t> </a:t>
            </a:r>
            <a:r>
              <a:rPr lang="de-DE" dirty="0" err="1"/>
              <a:t>it!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82808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74687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457A0-7C0F-6123-AAA8-086F30D0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B016BBE-E98C-80B8-0471-B67EF4BDB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6537F32-C677-7C9B-C8CD-47D845DA5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9A6F64-60A2-5DD5-41E8-1208927FC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76713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29BB9-514F-8861-1E5B-EF9F158E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4414786-7CB0-FD5C-0C4B-EEF832C63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A123D76-32E2-9413-F691-DA67EA3A9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- </a:t>
            </a:r>
            <a:r>
              <a:rPr lang="de-DE" dirty="0" err="1"/>
              <a:t>that‘s</a:t>
            </a:r>
            <a:r>
              <a:rPr lang="de-DE" dirty="0"/>
              <a:t> </a:t>
            </a:r>
            <a:r>
              <a:rPr lang="de-DE" dirty="0" err="1"/>
              <a:t>it!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360B4C-6472-B209-D7C8-EC3A0EC27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0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8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20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21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AC0808A-176F-B4A7-922F-C9F6053DF01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76244" y="263440"/>
            <a:ext cx="1210550" cy="67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3">
            <a:extLst>
              <a:ext uri="{FF2B5EF4-FFF2-40B4-BE49-F238E27FC236}">
                <a16:creationId xmlns:a16="http://schemas.microsoft.com/office/drawing/2014/main" id="{8D22BFAA-62C6-4AF7-A140-D9E9750A54AC}"/>
              </a:ext>
            </a:extLst>
          </p:cNvPr>
          <p:cNvSpPr/>
          <p:nvPr userDrawn="1"/>
        </p:nvSpPr>
        <p:spPr>
          <a:xfrm>
            <a:off x="3151994" y="2563831"/>
            <a:ext cx="9050720" cy="4317954"/>
          </a:xfrm>
          <a:custGeom>
            <a:avLst/>
            <a:gdLst>
              <a:gd name="connsiteX0" fmla="*/ 0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0 w 5904411"/>
              <a:gd name="connsiteY4" fmla="*/ 0 h 3967747"/>
              <a:gd name="connsiteX0" fmla="*/ 3590925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3590925 w 5904411"/>
              <a:gd name="connsiteY4" fmla="*/ 0 h 3967747"/>
              <a:gd name="connsiteX0" fmla="*/ 3857625 w 6171111"/>
              <a:gd name="connsiteY0" fmla="*/ 0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857625 w 6171111"/>
              <a:gd name="connsiteY4" fmla="*/ 0 h 3967747"/>
              <a:gd name="connsiteX0" fmla="*/ 3952875 w 6171111"/>
              <a:gd name="connsiteY0" fmla="*/ 9525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52875 w 6171111"/>
              <a:gd name="connsiteY4" fmla="*/ 9525 h 3967747"/>
              <a:gd name="connsiteX0" fmla="*/ 3925061 w 6171111"/>
              <a:gd name="connsiteY0" fmla="*/ 0 h 3972129"/>
              <a:gd name="connsiteX1" fmla="*/ 6171111 w 6171111"/>
              <a:gd name="connsiteY1" fmla="*/ 4382 h 3972129"/>
              <a:gd name="connsiteX2" fmla="*/ 6171111 w 6171111"/>
              <a:gd name="connsiteY2" fmla="*/ 3972129 h 3972129"/>
              <a:gd name="connsiteX3" fmla="*/ 0 w 6171111"/>
              <a:gd name="connsiteY3" fmla="*/ 3962604 h 3972129"/>
              <a:gd name="connsiteX4" fmla="*/ 3925061 w 6171111"/>
              <a:gd name="connsiteY4" fmla="*/ 0 h 3972129"/>
              <a:gd name="connsiteX0" fmla="*/ 3925061 w 6171111"/>
              <a:gd name="connsiteY0" fmla="*/ 381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25061 w 6171111"/>
              <a:gd name="connsiteY4" fmla="*/ 381 h 3967747"/>
              <a:gd name="connsiteX0" fmla="*/ 3961821 w 6207871"/>
              <a:gd name="connsiteY0" fmla="*/ 381 h 3981196"/>
              <a:gd name="connsiteX1" fmla="*/ 6207871 w 6207871"/>
              <a:gd name="connsiteY1" fmla="*/ 0 h 3981196"/>
              <a:gd name="connsiteX2" fmla="*/ 6207871 w 6207871"/>
              <a:gd name="connsiteY2" fmla="*/ 3967747 h 3981196"/>
              <a:gd name="connsiteX3" fmla="*/ 0 w 6207871"/>
              <a:gd name="connsiteY3" fmla="*/ 3981196 h 3981196"/>
              <a:gd name="connsiteX4" fmla="*/ 3961821 w 6207871"/>
              <a:gd name="connsiteY4" fmla="*/ 381 h 3981196"/>
              <a:gd name="connsiteX0" fmla="*/ 3984796 w 6230846"/>
              <a:gd name="connsiteY0" fmla="*/ 381 h 3981196"/>
              <a:gd name="connsiteX1" fmla="*/ 6230846 w 6230846"/>
              <a:gd name="connsiteY1" fmla="*/ 0 h 3981196"/>
              <a:gd name="connsiteX2" fmla="*/ 6230846 w 6230846"/>
              <a:gd name="connsiteY2" fmla="*/ 3967747 h 3981196"/>
              <a:gd name="connsiteX3" fmla="*/ 0 w 6230846"/>
              <a:gd name="connsiteY3" fmla="*/ 3981196 h 3981196"/>
              <a:gd name="connsiteX4" fmla="*/ 3984796 w 6230846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6230846 w 8344852"/>
              <a:gd name="connsiteY2" fmla="*/ 3967747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8344852 w 8344852"/>
              <a:gd name="connsiteY2" fmla="*/ 3967748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4852" h="3981196">
                <a:moveTo>
                  <a:pt x="3984796" y="381"/>
                </a:moveTo>
                <a:lnTo>
                  <a:pt x="8344852" y="0"/>
                </a:lnTo>
                <a:lnTo>
                  <a:pt x="8344852" y="3967748"/>
                </a:lnTo>
                <a:lnTo>
                  <a:pt x="0" y="3981196"/>
                </a:lnTo>
                <a:lnTo>
                  <a:pt x="3984796" y="381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 dirty="0"/>
          </a:p>
        </p:txBody>
      </p:sp>
      <p:sp>
        <p:nvSpPr>
          <p:cNvPr id="19" name="Rechteck 9">
            <a:extLst>
              <a:ext uri="{FF2B5EF4-FFF2-40B4-BE49-F238E27FC236}">
                <a16:creationId xmlns:a16="http://schemas.microsoft.com/office/drawing/2014/main" id="{9FD71789-74E3-45C9-B1BA-98AEA75CF44C}"/>
              </a:ext>
            </a:extLst>
          </p:cNvPr>
          <p:cNvSpPr/>
          <p:nvPr userDrawn="1"/>
        </p:nvSpPr>
        <p:spPr>
          <a:xfrm>
            <a:off x="-1" y="3692352"/>
            <a:ext cx="9555747" cy="3185710"/>
          </a:xfrm>
          <a:custGeom>
            <a:avLst/>
            <a:gdLst>
              <a:gd name="connsiteX0" fmla="*/ 0 w 8810492"/>
              <a:gd name="connsiteY0" fmla="*/ 0 h 2937256"/>
              <a:gd name="connsiteX1" fmla="*/ 8810492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  <a:gd name="connsiteX0" fmla="*/ 0 w 8810492"/>
              <a:gd name="connsiteY0" fmla="*/ 0 h 2937256"/>
              <a:gd name="connsiteX1" fmla="*/ 5858286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492" h="2937256">
                <a:moveTo>
                  <a:pt x="0" y="0"/>
                </a:moveTo>
                <a:lnTo>
                  <a:pt x="5858286" y="0"/>
                </a:lnTo>
                <a:lnTo>
                  <a:pt x="8810492" y="2937256"/>
                </a:lnTo>
                <a:lnTo>
                  <a:pt x="0" y="29372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dirty="0"/>
              <a:t> </a:t>
            </a:r>
          </a:p>
        </p:txBody>
      </p:sp>
      <p:sp>
        <p:nvSpPr>
          <p:cNvPr id="20" name="Rechteck 8">
            <a:extLst>
              <a:ext uri="{FF2B5EF4-FFF2-40B4-BE49-F238E27FC236}">
                <a16:creationId xmlns:a16="http://schemas.microsoft.com/office/drawing/2014/main" id="{E0A106CA-E2A4-4455-BD1E-8B7BA6CDC669}"/>
              </a:ext>
            </a:extLst>
          </p:cNvPr>
          <p:cNvSpPr/>
          <p:nvPr userDrawn="1"/>
        </p:nvSpPr>
        <p:spPr>
          <a:xfrm>
            <a:off x="-709" y="2302249"/>
            <a:ext cx="6020777" cy="4581946"/>
          </a:xfrm>
          <a:custGeom>
            <a:avLst/>
            <a:gdLst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5307874 h 5307874"/>
              <a:gd name="connsiteX3" fmla="*/ 0 w 3587931"/>
              <a:gd name="connsiteY3" fmla="*/ 5307874 h 5307874"/>
              <a:gd name="connsiteX4" fmla="*/ 0 w 3587931"/>
              <a:gd name="connsiteY4" fmla="*/ 0 h 5307874"/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587931"/>
              <a:gd name="connsiteY0" fmla="*/ 0 h 5307874"/>
              <a:gd name="connsiteX1" fmla="*/ 1463039 w 3587931"/>
              <a:gd name="connsiteY1" fmla="*/ 1445623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587931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578520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593268"/>
              <a:gd name="connsiteY0" fmla="*/ 0 h 5307874"/>
              <a:gd name="connsiteX1" fmla="*/ 1463039 w 3593268"/>
              <a:gd name="connsiteY1" fmla="*/ 1445623 h 5307874"/>
              <a:gd name="connsiteX2" fmla="*/ 3578520 w 3593268"/>
              <a:gd name="connsiteY2" fmla="*/ 3614057 h 5307874"/>
              <a:gd name="connsiteX3" fmla="*/ 3593268 w 3593268"/>
              <a:gd name="connsiteY3" fmla="*/ 5307874 h 5307874"/>
              <a:gd name="connsiteX4" fmla="*/ 0 w 3593268"/>
              <a:gd name="connsiteY4" fmla="*/ 5307874 h 5307874"/>
              <a:gd name="connsiteX5" fmla="*/ 0 w 3593268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63771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1146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8520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99785"/>
              <a:gd name="connsiteY0" fmla="*/ 0 h 3872478"/>
              <a:gd name="connsiteX1" fmla="*/ 1484304 w 3599785"/>
              <a:gd name="connsiteY1" fmla="*/ 10227 h 3872478"/>
              <a:gd name="connsiteX2" fmla="*/ 3599785 w 3599785"/>
              <a:gd name="connsiteY2" fmla="*/ 2178661 h 3872478"/>
              <a:gd name="connsiteX3" fmla="*/ 3599785 w 3599785"/>
              <a:gd name="connsiteY3" fmla="*/ 3872478 h 3872478"/>
              <a:gd name="connsiteX4" fmla="*/ 21265 w 3599785"/>
              <a:gd name="connsiteY4" fmla="*/ 3872478 h 3872478"/>
              <a:gd name="connsiteX5" fmla="*/ 0 w 3599785"/>
              <a:gd name="connsiteY5" fmla="*/ 0 h 3872478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21265 w 3599785"/>
              <a:gd name="connsiteY4" fmla="*/ 3872478 h 4223352"/>
              <a:gd name="connsiteX5" fmla="*/ 0 w 3599785"/>
              <a:gd name="connsiteY5" fmla="*/ 0 h 4223352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0 w 3599785"/>
              <a:gd name="connsiteY4" fmla="*/ 4212720 h 4223352"/>
              <a:gd name="connsiteX5" fmla="*/ 0 w 3599785"/>
              <a:gd name="connsiteY5" fmla="*/ 0 h 4223352"/>
              <a:gd name="connsiteX0" fmla="*/ 0 w 3599785"/>
              <a:gd name="connsiteY0" fmla="*/ 7190 h 4230542"/>
              <a:gd name="connsiteX1" fmla="*/ 1484304 w 3599785"/>
              <a:gd name="connsiteY1" fmla="*/ 0 h 4230542"/>
              <a:gd name="connsiteX2" fmla="*/ 3599785 w 3599785"/>
              <a:gd name="connsiteY2" fmla="*/ 2185851 h 4230542"/>
              <a:gd name="connsiteX3" fmla="*/ 3589153 w 3599785"/>
              <a:gd name="connsiteY3" fmla="*/ 4230542 h 4230542"/>
              <a:gd name="connsiteX4" fmla="*/ 0 w 3599785"/>
              <a:gd name="connsiteY4" fmla="*/ 4219910 h 4230542"/>
              <a:gd name="connsiteX5" fmla="*/ 0 w 3599785"/>
              <a:gd name="connsiteY5" fmla="*/ 7190 h 4230542"/>
              <a:gd name="connsiteX0" fmla="*/ 0 w 3607160"/>
              <a:gd name="connsiteY0" fmla="*/ 14564 h 4230542"/>
              <a:gd name="connsiteX1" fmla="*/ 1491679 w 3607160"/>
              <a:gd name="connsiteY1" fmla="*/ 0 h 4230542"/>
              <a:gd name="connsiteX2" fmla="*/ 3607160 w 3607160"/>
              <a:gd name="connsiteY2" fmla="*/ 2185851 h 4230542"/>
              <a:gd name="connsiteX3" fmla="*/ 3596528 w 3607160"/>
              <a:gd name="connsiteY3" fmla="*/ 4230542 h 4230542"/>
              <a:gd name="connsiteX4" fmla="*/ 7375 w 3607160"/>
              <a:gd name="connsiteY4" fmla="*/ 4219910 h 4230542"/>
              <a:gd name="connsiteX5" fmla="*/ 0 w 3607160"/>
              <a:gd name="connsiteY5" fmla="*/ 14564 h 4230542"/>
              <a:gd name="connsiteX0" fmla="*/ 709 w 3600495"/>
              <a:gd name="connsiteY0" fmla="*/ 0 h 4407707"/>
              <a:gd name="connsiteX1" fmla="*/ 1485014 w 3600495"/>
              <a:gd name="connsiteY1" fmla="*/ 177165 h 4407707"/>
              <a:gd name="connsiteX2" fmla="*/ 3600495 w 3600495"/>
              <a:gd name="connsiteY2" fmla="*/ 2363016 h 4407707"/>
              <a:gd name="connsiteX3" fmla="*/ 3589863 w 3600495"/>
              <a:gd name="connsiteY3" fmla="*/ 4407707 h 4407707"/>
              <a:gd name="connsiteX4" fmla="*/ 710 w 3600495"/>
              <a:gd name="connsiteY4" fmla="*/ 4397075 h 4407707"/>
              <a:gd name="connsiteX5" fmla="*/ 709 w 3600495"/>
              <a:gd name="connsiteY5" fmla="*/ 0 h 4407707"/>
              <a:gd name="connsiteX0" fmla="*/ 709 w 3600495"/>
              <a:gd name="connsiteY0" fmla="*/ 0 h 4230727"/>
              <a:gd name="connsiteX1" fmla="*/ 1485014 w 3600495"/>
              <a:gd name="connsiteY1" fmla="*/ 185 h 4230727"/>
              <a:gd name="connsiteX2" fmla="*/ 3600495 w 3600495"/>
              <a:gd name="connsiteY2" fmla="*/ 2186036 h 4230727"/>
              <a:gd name="connsiteX3" fmla="*/ 3589863 w 3600495"/>
              <a:gd name="connsiteY3" fmla="*/ 4230727 h 4230727"/>
              <a:gd name="connsiteX4" fmla="*/ 710 w 3600495"/>
              <a:gd name="connsiteY4" fmla="*/ 4220095 h 4230727"/>
              <a:gd name="connsiteX5" fmla="*/ 709 w 3600495"/>
              <a:gd name="connsiteY5" fmla="*/ 0 h 4230727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3589863 w 5551215"/>
              <a:gd name="connsiteY3" fmla="*/ 4230727 h 4232550"/>
              <a:gd name="connsiteX4" fmla="*/ 710 w 5551215"/>
              <a:gd name="connsiteY4" fmla="*/ 4220095 h 4232550"/>
              <a:gd name="connsiteX5" fmla="*/ 709 w 5551215"/>
              <a:gd name="connsiteY5" fmla="*/ 0 h 4232550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710 w 5551215"/>
              <a:gd name="connsiteY3" fmla="*/ 4220095 h 4232550"/>
              <a:gd name="connsiteX4" fmla="*/ 709 w 5551215"/>
              <a:gd name="connsiteY4" fmla="*/ 0 h 4232550"/>
              <a:gd name="connsiteX0" fmla="*/ 709 w 5551215"/>
              <a:gd name="connsiteY0" fmla="*/ 0 h 4224599"/>
              <a:gd name="connsiteX1" fmla="*/ 1485014 w 5551215"/>
              <a:gd name="connsiteY1" fmla="*/ 185 h 4224599"/>
              <a:gd name="connsiteX2" fmla="*/ 5551215 w 5551215"/>
              <a:gd name="connsiteY2" fmla="*/ 4224599 h 4224599"/>
              <a:gd name="connsiteX3" fmla="*/ 710 w 5551215"/>
              <a:gd name="connsiteY3" fmla="*/ 4220095 h 4224599"/>
              <a:gd name="connsiteX4" fmla="*/ 709 w 5551215"/>
              <a:gd name="connsiteY4" fmla="*/ 0 h 4224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1215" h="4224599">
                <a:moveTo>
                  <a:pt x="709" y="0"/>
                </a:moveTo>
                <a:lnTo>
                  <a:pt x="1485014" y="185"/>
                </a:lnTo>
                <a:lnTo>
                  <a:pt x="5551215" y="4224599"/>
                </a:lnTo>
                <a:lnTo>
                  <a:pt x="710" y="4220095"/>
                </a:lnTo>
                <a:cubicBezTo>
                  <a:pt x="-1748" y="2818313"/>
                  <a:pt x="3167" y="1401782"/>
                  <a:pt x="709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21" name="Grafik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A3EA328-D3C0-272D-1323-0FC1DB37E29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76244" y="263440"/>
            <a:ext cx="1210550" cy="67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18043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Ort oder Anlass des Vortrags // 18. Februar 2022</a:t>
            </a:r>
          </a:p>
        </p:txBody>
      </p:sp>
      <p:pic>
        <p:nvPicPr>
          <p:cNvPr id="10" name="Grafik 9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30108"/>
            <a:ext cx="1468046" cy="544572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51"/>
            <a:ext cx="1764000" cy="51204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DA91167-EEC7-0769-9D71-61EC9960F8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76244" y="263440"/>
            <a:ext cx="1210550" cy="67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folie_TUD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 dirty="0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2 Inhalt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5"/>
          </p:nvPr>
        </p:nvSpPr>
        <p:spPr>
          <a:xfrm>
            <a:off x="6267450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7373242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3384549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980374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_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4101152"/>
            <a:ext cx="12191999" cy="2028186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10580687" cy="2398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4580503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4121151" cy="4645024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9757924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874713" y="1481138"/>
            <a:ext cx="339883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4"/>
          </p:nvPr>
        </p:nvSpPr>
        <p:spPr>
          <a:xfrm>
            <a:off x="4457699" y="1481138"/>
            <a:ext cx="3416301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3"/>
          <p:cNvSpPr>
            <a:spLocks noGrp="1"/>
          </p:cNvSpPr>
          <p:nvPr>
            <p:ph sz="quarter" idx="15"/>
          </p:nvPr>
        </p:nvSpPr>
        <p:spPr>
          <a:xfrm>
            <a:off x="8070850" y="1481138"/>
            <a:ext cx="3384550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6"/>
          </p:nvPr>
        </p:nvSpPr>
        <p:spPr>
          <a:xfrm>
            <a:off x="5365750" y="1484313"/>
            <a:ext cx="6089650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 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>
                <a:solidFill>
                  <a:schemeClr val="accent1"/>
                </a:solidFill>
              </a:rPr>
              <a:t>Titelmasterformat durch Klicken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2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quarter" idx="13"/>
          </p:nvPr>
        </p:nvSpPr>
        <p:spPr>
          <a:xfrm>
            <a:off x="6273895" y="1486586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7653168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1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Bildplatzhalter 2"/>
          <p:cNvSpPr>
            <a:spLocks noGrp="1"/>
          </p:cNvSpPr>
          <p:nvPr>
            <p:ph type="pic" sz="quarter" idx="11"/>
          </p:nvPr>
        </p:nvSpPr>
        <p:spPr>
          <a:xfrm>
            <a:off x="2579023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278261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2"/>
          <p:cNvSpPr>
            <a:spLocks noGrp="1"/>
          </p:cNvSpPr>
          <p:nvPr>
            <p:ph type="pic" sz="quarter" idx="13"/>
          </p:nvPr>
        </p:nvSpPr>
        <p:spPr>
          <a:xfrm>
            <a:off x="5977499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7676735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87333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2586571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6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285809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sz="quarter" idx="18"/>
          </p:nvPr>
        </p:nvSpPr>
        <p:spPr>
          <a:xfrm>
            <a:off x="5985047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8" name="Bildplatzhalter 2"/>
          <p:cNvSpPr>
            <a:spLocks noGrp="1"/>
          </p:cNvSpPr>
          <p:nvPr>
            <p:ph type="pic" sz="quarter" idx="19"/>
          </p:nvPr>
        </p:nvSpPr>
        <p:spPr>
          <a:xfrm>
            <a:off x="7684283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20"/>
          </p:nvPr>
        </p:nvSpPr>
        <p:spPr>
          <a:xfrm>
            <a:off x="885829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2"/>
          <p:cNvSpPr>
            <a:spLocks noGrp="1"/>
          </p:cNvSpPr>
          <p:nvPr>
            <p:ph type="pic" sz="quarter" idx="21"/>
          </p:nvPr>
        </p:nvSpPr>
        <p:spPr>
          <a:xfrm>
            <a:off x="2585067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4284305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Bildplatzhalter 2"/>
          <p:cNvSpPr>
            <a:spLocks noGrp="1"/>
          </p:cNvSpPr>
          <p:nvPr>
            <p:ph type="pic" sz="quarter" idx="23"/>
          </p:nvPr>
        </p:nvSpPr>
        <p:spPr>
          <a:xfrm>
            <a:off x="5983543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7682779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sz="quarter" idx="25"/>
          </p:nvPr>
        </p:nvSpPr>
        <p:spPr>
          <a:xfrm>
            <a:off x="9385079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5" name="Bildplatzhalter 2"/>
          <p:cNvSpPr>
            <a:spLocks noGrp="1"/>
          </p:cNvSpPr>
          <p:nvPr>
            <p:ph type="pic" sz="quarter" idx="26"/>
          </p:nvPr>
        </p:nvSpPr>
        <p:spPr>
          <a:xfrm>
            <a:off x="9385079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6" name="Bildplatzhalter 2"/>
          <p:cNvSpPr>
            <a:spLocks noGrp="1"/>
          </p:cNvSpPr>
          <p:nvPr>
            <p:ph type="pic" sz="quarter" idx="27"/>
          </p:nvPr>
        </p:nvSpPr>
        <p:spPr>
          <a:xfrm>
            <a:off x="9383575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1"/>
          </p:nvPr>
        </p:nvSpPr>
        <p:spPr>
          <a:xfrm>
            <a:off x="3575257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2"/>
          </p:nvPr>
        </p:nvSpPr>
        <p:spPr>
          <a:xfrm>
            <a:off x="6270729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3"/>
          </p:nvPr>
        </p:nvSpPr>
        <p:spPr>
          <a:xfrm>
            <a:off x="8966200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80142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5"/>
          </p:nvPr>
        </p:nvSpPr>
        <p:spPr>
          <a:xfrm>
            <a:off x="3575614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271086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966557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60595210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6 Bild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9703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081331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152960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5151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6"/>
          </p:nvPr>
        </p:nvSpPr>
        <p:spPr>
          <a:xfrm>
            <a:off x="4076779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148408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58194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500038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 bis Ebene 4)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 (nachfolgend alles 14 </a:t>
            </a:r>
            <a:r>
              <a:rPr lang="de-DE" dirty="0" err="1"/>
              <a:t>pt</a:t>
            </a:r>
            <a:r>
              <a:rPr lang="de-DE" dirty="0"/>
              <a:t>)</a:t>
            </a:r>
          </a:p>
          <a:p>
            <a:pPr lvl="5"/>
            <a:r>
              <a:rPr lang="de-DE" dirty="0"/>
              <a:t>Sechste Textebene für Aufzählungen bei viel Text</a:t>
            </a:r>
          </a:p>
          <a:p>
            <a:pPr lvl="6"/>
            <a:r>
              <a:rPr lang="de-DE" dirty="0"/>
              <a:t>Siebte Textebene für Aufzählungen bei viel Text</a:t>
            </a:r>
          </a:p>
          <a:p>
            <a:pPr lvl="7"/>
            <a:r>
              <a:rPr lang="de-DE" dirty="0"/>
              <a:t>Achte Textebene für Aufzählungen bei viel Text</a:t>
            </a:r>
          </a:p>
          <a:p>
            <a:pPr lvl="8"/>
            <a:r>
              <a:rPr lang="de-DE" dirty="0"/>
              <a:t>Neunte Textebene für Aufzählungen bei viel Text</a:t>
            </a:r>
          </a:p>
          <a:p>
            <a:pPr lvl="5"/>
            <a:endParaRPr lang="de-DE" dirty="0"/>
          </a:p>
        </p:txBody>
      </p:sp>
      <p:sp>
        <p:nvSpPr>
          <p:cNvPr id="4" name="Textfeld 3"/>
          <p:cNvSpPr txBox="1"/>
          <p:nvPr userDrawn="1"/>
        </p:nvSpPr>
        <p:spPr>
          <a:xfrm>
            <a:off x="2477770" y="6243145"/>
            <a:ext cx="4293966" cy="49244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Graphical Management of Multiple Runtime Models to Improve the Comprehension of Contextual Behavioral Programs – Defense of Master Thesis</a:t>
            </a:r>
            <a:endParaRPr lang="de-DE" sz="800" baseline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Chair of Software Technology</a:t>
            </a:r>
          </a:p>
          <a:p>
            <a:pPr marL="0" marR="0" lvl="0" indent="0" algn="l" defTabSz="8229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Nick Ruider </a:t>
            </a:r>
            <a:r>
              <a:rPr lang="de-DE" sz="800" baseline="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// 25th June 2026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7157720" y="6306444"/>
            <a:ext cx="7048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sz="8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</a:t>
            </a:r>
            <a:fld id="{38F97D41-8991-4148-BA02-56FEE4AAF2CC}" type="slidenum">
              <a:rPr lang="de-DE" sz="800" baseline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l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800" baseline="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 dirty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6334183"/>
            <a:ext cx="1116268" cy="323730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106" y="6315776"/>
            <a:ext cx="969464" cy="36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0700222-9383-7DC1-7388-991FC6191C96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9801362" y="6246634"/>
            <a:ext cx="873126" cy="48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912" r:id="rId2"/>
    <p:sldLayoutId id="2147483893" r:id="rId3"/>
    <p:sldLayoutId id="2147483895" r:id="rId4"/>
    <p:sldLayoutId id="2147483894" r:id="rId5"/>
    <p:sldLayoutId id="2147483913" r:id="rId6"/>
    <p:sldLayoutId id="2147483897" r:id="rId7"/>
    <p:sldLayoutId id="2147483914" r:id="rId8"/>
    <p:sldLayoutId id="2147483915" r:id="rId9"/>
    <p:sldLayoutId id="2147483916" r:id="rId10"/>
    <p:sldLayoutId id="2147483899" r:id="rId11"/>
    <p:sldLayoutId id="2147483896" r:id="rId12"/>
    <p:sldLayoutId id="2147483900" r:id="rId13"/>
    <p:sldLayoutId id="2147483901" r:id="rId14"/>
    <p:sldLayoutId id="2147483918" r:id="rId15"/>
    <p:sldLayoutId id="2147483919" r:id="rId16"/>
    <p:sldLayoutId id="2147483917" r:id="rId17"/>
    <p:sldLayoutId id="2147483902" r:id="rId18"/>
    <p:sldLayoutId id="2147483903" r:id="rId19"/>
  </p:sldLayoutIdLst>
  <p:hf hdr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914269" rtl="0" eaLnBrk="1" latinLnBrk="0" hangingPunct="1">
        <a:spcBef>
          <a:spcPts val="600"/>
        </a:spcBef>
        <a:buFont typeface="Open Sans" panose="020B0606030504020204" pitchFamily="34" charset="0"/>
        <a:buNone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252000" indent="-252000" algn="l" defTabSz="914269" rtl="0" eaLnBrk="1" latinLnBrk="0" hangingPunct="1">
        <a:spcBef>
          <a:spcPts val="0"/>
        </a:spcBef>
        <a:buFont typeface="Arial" panose="020B0604020202020204" pitchFamily="34" charset="0"/>
        <a:buChar char="—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52000" indent="-144000" algn="l" defTabSz="914269" rtl="0" eaLnBrk="1" latinLnBrk="0" hangingPunct="1">
        <a:spcBef>
          <a:spcPts val="0"/>
        </a:spcBef>
        <a:buFont typeface="Open Sans" panose="020B060603050402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269" rtl="0" eaLnBrk="1" latinLnBrk="0" hangingPunct="1">
        <a:spcBef>
          <a:spcPts val="600"/>
        </a:spcBef>
        <a:spcAft>
          <a:spcPts val="0"/>
        </a:spcAft>
        <a:buFont typeface="Symbol" panose="05050102010706020507" pitchFamily="18" charset="2"/>
        <a:buNone/>
        <a:defRPr sz="1400" b="1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0" marR="0" indent="0" algn="l" defTabSz="91426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52000" marR="0" indent="-252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—"/>
        <a:tabLst/>
        <a:defRPr lang="de-DE" sz="1400" kern="1200" dirty="0" smtClean="0">
          <a:solidFill>
            <a:schemeClr val="accent1"/>
          </a:solidFill>
          <a:latin typeface="+mn-lt"/>
          <a:ea typeface="+mn-ea"/>
          <a:cs typeface="+mn-cs"/>
        </a:defRPr>
      </a:lvl7pPr>
      <a:lvl8pPr marL="252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Open Sans" panose="020B0606030504020204" pitchFamily="34" charset="0"/>
        <a:buChar char="–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96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8" userDrawn="1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085" userDrawn="1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48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featureide.de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F6BF7BC-6121-155A-BF9E-CB493304A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808" y="2562665"/>
            <a:ext cx="1192634" cy="246221"/>
          </a:xfrm>
        </p:spPr>
        <p:txBody>
          <a:bodyPr/>
          <a:lstStyle/>
          <a:p>
            <a:r>
              <a:rPr lang="en-US" noProof="0" dirty="0"/>
              <a:t>Nick Ruider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E1457B0-27C6-A11F-BCC6-4B668DD25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807" y="3426117"/>
            <a:ext cx="10651762" cy="1477328"/>
          </a:xfrm>
        </p:spPr>
        <p:txBody>
          <a:bodyPr/>
          <a:lstStyle/>
          <a:p>
            <a:r>
              <a:rPr lang="en-US" noProof="0" dirty="0"/>
              <a:t>Graphical Management</a:t>
            </a:r>
            <a:r>
              <a:rPr lang="en-US" b="0" noProof="0" dirty="0"/>
              <a:t> of </a:t>
            </a:r>
            <a:r>
              <a:rPr lang="en-US" noProof="0" dirty="0"/>
              <a:t>Multiple Runtime Models </a:t>
            </a:r>
            <a:br>
              <a:rPr lang="en-US" b="0" noProof="0" dirty="0"/>
            </a:br>
            <a:r>
              <a:rPr lang="en-US" b="0" noProof="0" dirty="0"/>
              <a:t>to Improve the Comprehension of</a:t>
            </a:r>
            <a:br>
              <a:rPr lang="en-US" b="0" noProof="0" dirty="0"/>
            </a:br>
            <a:r>
              <a:rPr lang="en-US" noProof="0" dirty="0"/>
              <a:t>Contextual Behavioral Programs</a:t>
            </a:r>
          </a:p>
        </p:txBody>
      </p:sp>
      <p:sp>
        <p:nvSpPr>
          <p:cNvPr id="9" name="Untertitel 8">
            <a:extLst>
              <a:ext uri="{FF2B5EF4-FFF2-40B4-BE49-F238E27FC236}">
                <a16:creationId xmlns:a16="http://schemas.microsoft.com/office/drawing/2014/main" id="{FE05EA1C-1D2B-71D4-4D54-74F9F1AF1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771" y="5236271"/>
            <a:ext cx="2410916" cy="569387"/>
          </a:xfrm>
        </p:spPr>
        <p:txBody>
          <a:bodyPr/>
          <a:lstStyle/>
          <a:p>
            <a:r>
              <a:rPr lang="en-US" noProof="0" dirty="0"/>
              <a:t>Defense of Master Thesis</a:t>
            </a:r>
          </a:p>
          <a:p>
            <a:r>
              <a:rPr lang="en-US" noProof="0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74A535C-32BF-1E18-5EB5-E277DCC599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2808" y="2847070"/>
            <a:ext cx="2891754" cy="246221"/>
          </a:xfrm>
        </p:spPr>
        <p:txBody>
          <a:bodyPr/>
          <a:lstStyle/>
          <a:p>
            <a:r>
              <a:rPr lang="en-US" noProof="0" dirty="0"/>
              <a:t>Chair of Software Technology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E6F4A97-AD2E-F78D-A64F-16C2E75190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772" y="5520964"/>
            <a:ext cx="3948902" cy="569387"/>
          </a:xfrm>
        </p:spPr>
        <p:txBody>
          <a:bodyPr/>
          <a:lstStyle/>
          <a:p>
            <a:r>
              <a:rPr lang="en-US" noProof="0" dirty="0"/>
              <a:t>Andreas-Pfitzmann-Bau // 25th June 2026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2562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6FDD851-0356-09C3-32E5-E41A4A3CA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</a:t>
            </a:r>
            <a:br>
              <a:rPr lang="en-US" noProof="0" dirty="0"/>
            </a:br>
            <a:r>
              <a:rPr lang="en-US" b="0" noProof="0" dirty="0"/>
              <a:t>Defense of Master Thesis</a:t>
            </a:r>
            <a:endParaRPr lang="en-US" noProof="0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C927526D-3661-46BA-CF40-EC45475597F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b="1" noProof="0" dirty="0"/>
              <a:t>Research Questions</a:t>
            </a:r>
          </a:p>
          <a:p>
            <a:pPr lvl="1"/>
            <a:r>
              <a:rPr lang="en-US" b="1" noProof="0" dirty="0"/>
              <a:t>Background</a:t>
            </a:r>
          </a:p>
          <a:p>
            <a:pPr lvl="1"/>
            <a:r>
              <a:rPr lang="en-US" noProof="0" dirty="0"/>
              <a:t>   Behavioral Programming (</a:t>
            </a:r>
            <a:r>
              <a:rPr lang="en-US" i="1" noProof="0" dirty="0"/>
              <a:t>BP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   Universal Variability Language (</a:t>
            </a:r>
            <a:r>
              <a:rPr lang="en-US" i="1" noProof="0" dirty="0"/>
              <a:t>UVL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   Graphical Language Server Platform (</a:t>
            </a:r>
            <a:r>
              <a:rPr lang="en-US" i="1" noProof="0" dirty="0"/>
              <a:t>GLSP</a:t>
            </a:r>
            <a:r>
              <a:rPr lang="en-US" noProof="0" dirty="0"/>
              <a:t>)</a:t>
            </a:r>
          </a:p>
          <a:p>
            <a:pPr lvl="1"/>
            <a:r>
              <a:rPr lang="en-US" b="1" noProof="0" dirty="0"/>
              <a:t>State Of The Art</a:t>
            </a:r>
          </a:p>
          <a:p>
            <a:pPr lvl="1"/>
            <a:r>
              <a:rPr lang="en-US" noProof="0" dirty="0"/>
              <a:t>   Existing Tools</a:t>
            </a:r>
          </a:p>
          <a:p>
            <a:pPr lvl="1"/>
            <a:r>
              <a:rPr lang="en-US" noProof="0" dirty="0"/>
              <a:t>   Research Gap</a:t>
            </a:r>
          </a:p>
          <a:p>
            <a:pPr lvl="1"/>
            <a:r>
              <a:rPr lang="en-US" b="1" noProof="0" dirty="0"/>
              <a:t>Implementation</a:t>
            </a:r>
          </a:p>
          <a:p>
            <a:pPr lvl="1"/>
            <a:r>
              <a:rPr lang="en-US" b="1" noProof="0" dirty="0"/>
              <a:t>   </a:t>
            </a:r>
            <a:r>
              <a:rPr lang="en-US" noProof="0" dirty="0"/>
              <a:t>Extensions to FMBP &amp; UVL Metamodel</a:t>
            </a:r>
          </a:p>
          <a:p>
            <a:pPr lvl="1"/>
            <a:r>
              <a:rPr lang="en-US" noProof="0" dirty="0"/>
              <a:t>   UVL- &amp; UVL-BP GLSP</a:t>
            </a:r>
          </a:p>
          <a:p>
            <a:pPr lvl="1"/>
            <a:r>
              <a:rPr lang="en-US" b="1" noProof="0" dirty="0"/>
              <a:t>Demo</a:t>
            </a:r>
          </a:p>
          <a:p>
            <a:pPr lvl="1"/>
            <a:r>
              <a:rPr lang="en-US" b="1" noProof="0" dirty="0"/>
              <a:t>Evaluation</a:t>
            </a:r>
            <a:r>
              <a:rPr lang="en-US" noProof="0" dirty="0"/>
              <a:t> </a:t>
            </a:r>
            <a:r>
              <a:rPr lang="en-US" b="1" noProof="0" dirty="0"/>
              <a:t>&amp;</a:t>
            </a:r>
            <a:r>
              <a:rPr lang="en-US" noProof="0" dirty="0"/>
              <a:t> </a:t>
            </a:r>
            <a:r>
              <a:rPr lang="en-US" b="1" noProof="0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680821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9E2BE-CC31-24AC-736C-4933BFF5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F74CB0-E36F-9465-3F86-4D1FE7CBF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Research Questions</a:t>
            </a:r>
            <a:br>
              <a:rPr lang="en-US" noProof="0" dirty="0"/>
            </a:br>
            <a:r>
              <a:rPr lang="en-US" b="0" noProof="0" dirty="0"/>
              <a:t>Motivation of this thesis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C3CA7A-CC29-B08F-A3FB-B4CA1DB2877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4"/>
            <a:ext cx="10580688" cy="601662"/>
          </a:xfrm>
        </p:spPr>
        <p:txBody>
          <a:bodyPr/>
          <a:lstStyle/>
          <a:p>
            <a:r>
              <a:rPr lang="en-US" noProof="0" dirty="0"/>
              <a:t>Graphical tool</a:t>
            </a:r>
            <a:r>
              <a:rPr lang="en-US" b="0" noProof="0" dirty="0"/>
              <a:t> improving the comprehension of behavioral programs for multiple runtime models</a:t>
            </a:r>
          </a:p>
          <a:p>
            <a:pPr marL="342900" indent="-342900">
              <a:buAutoNum type="arabicPeriod"/>
            </a:pPr>
            <a:endParaRPr lang="en-US" b="0" noProof="0" dirty="0"/>
          </a:p>
          <a:p>
            <a:pPr marL="342900" indent="-342900">
              <a:buFont typeface="+mj-lt"/>
              <a:buAutoNum type="arabicPeriod"/>
            </a:pPr>
            <a:endParaRPr lang="en-US" b="0" noProof="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F1C2A27-5711-EF69-2605-8AFECA278355}"/>
              </a:ext>
            </a:extLst>
          </p:cNvPr>
          <p:cNvSpPr txBox="1">
            <a:spLocks/>
          </p:cNvSpPr>
          <p:nvPr/>
        </p:nvSpPr>
        <p:spPr>
          <a:xfrm>
            <a:off x="874712" y="1885950"/>
            <a:ext cx="630239" cy="394335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Char char="—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52000" indent="-144000" algn="l" defTabSz="914269" rtl="0" eaLnBrk="1" latinLnBrk="0" hangingPunct="1">
              <a:spcBef>
                <a:spcPts val="0"/>
              </a:spcBef>
              <a:buFont typeface="Open Sans" panose="020B0606030504020204" pitchFamily="34" charset="0"/>
              <a:buChar char="–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52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96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0" noProof="0" dirty="0"/>
          </a:p>
          <a:p>
            <a:r>
              <a:rPr lang="en-US" b="0" noProof="0" dirty="0"/>
              <a:t>1.          </a:t>
            </a:r>
            <a:r>
              <a:rPr lang="en-US" b="0" noProof="0" dirty="0">
                <a:solidFill>
                  <a:schemeClr val="bg1"/>
                </a:solidFill>
              </a:rPr>
              <a:t>.</a:t>
            </a:r>
          </a:p>
          <a:p>
            <a:r>
              <a:rPr lang="en-US" b="0" noProof="0" dirty="0"/>
              <a:t>2.          </a:t>
            </a:r>
            <a:r>
              <a:rPr lang="en-US" b="0" noProof="0" dirty="0">
                <a:solidFill>
                  <a:schemeClr val="bg1"/>
                </a:solidFill>
              </a:rPr>
              <a:t>.</a:t>
            </a:r>
          </a:p>
          <a:p>
            <a:r>
              <a:rPr lang="en-US" b="0" noProof="0" dirty="0"/>
              <a:t>3.1.              </a:t>
            </a:r>
            <a:r>
              <a:rPr lang="en-US" b="0" noProof="0" dirty="0">
                <a:solidFill>
                  <a:schemeClr val="bg1"/>
                </a:solidFill>
              </a:rPr>
              <a:t>.</a:t>
            </a:r>
          </a:p>
          <a:p>
            <a:r>
              <a:rPr lang="en-US" b="0" noProof="0" dirty="0"/>
              <a:t>3.2.          </a:t>
            </a:r>
            <a:r>
              <a:rPr lang="en-US" b="0" noProof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5BFF3B1-6926-FABD-E952-3AE0DC311698}"/>
              </a:ext>
            </a:extLst>
          </p:cNvPr>
          <p:cNvSpPr txBox="1">
            <a:spLocks/>
          </p:cNvSpPr>
          <p:nvPr/>
        </p:nvSpPr>
        <p:spPr>
          <a:xfrm>
            <a:off x="1322386" y="1885950"/>
            <a:ext cx="10202864" cy="394334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Char char="—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52000" indent="-144000" algn="l" defTabSz="914269" rtl="0" eaLnBrk="1" latinLnBrk="0" hangingPunct="1">
              <a:spcBef>
                <a:spcPts val="0"/>
              </a:spcBef>
              <a:buFont typeface="Open Sans" panose="020B0606030504020204" pitchFamily="34" charset="0"/>
              <a:buChar char="–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52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96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0" noProof="0" dirty="0"/>
          </a:p>
          <a:p>
            <a:r>
              <a:rPr lang="en-US" b="0" noProof="0" dirty="0"/>
              <a:t>How feasible is the </a:t>
            </a:r>
            <a:r>
              <a:rPr lang="en-US" noProof="0" dirty="0"/>
              <a:t>graphical visualization of UVL feature models</a:t>
            </a:r>
            <a:r>
              <a:rPr lang="en-US" b="0" noProof="0" dirty="0"/>
              <a:t> for improving the comprehension of contextual BP?</a:t>
            </a:r>
          </a:p>
          <a:p>
            <a:r>
              <a:rPr lang="en-US" b="0" noProof="0" dirty="0"/>
              <a:t>How can </a:t>
            </a:r>
            <a:r>
              <a:rPr lang="en-US" noProof="0" dirty="0"/>
              <a:t>BP concepts</a:t>
            </a:r>
            <a:r>
              <a:rPr lang="en-US" b="0" noProof="0" dirty="0"/>
              <a:t> be </a:t>
            </a:r>
            <a:r>
              <a:rPr lang="en-US" noProof="0" dirty="0"/>
              <a:t>integrated</a:t>
            </a:r>
            <a:r>
              <a:rPr lang="en-US" b="0" noProof="0" dirty="0"/>
              <a:t> into a graphical tool while maintaining </a:t>
            </a:r>
            <a:r>
              <a:rPr lang="en-US" noProof="0" dirty="0"/>
              <a:t>extensibility</a:t>
            </a:r>
            <a:r>
              <a:rPr lang="en-US" b="0" noProof="0" dirty="0"/>
              <a:t> for future features and analyses?</a:t>
            </a:r>
          </a:p>
          <a:p>
            <a:r>
              <a:rPr lang="en-US" b="0" noProof="0" dirty="0"/>
              <a:t>How can </a:t>
            </a:r>
            <a:r>
              <a:rPr lang="en-US" noProof="0" dirty="0"/>
              <a:t>changes to the feature model</a:t>
            </a:r>
            <a:r>
              <a:rPr lang="en-US" b="0" noProof="0" dirty="0"/>
              <a:t> during the execution of a behavioral program be automatically </a:t>
            </a:r>
            <a:r>
              <a:rPr lang="en-US" noProof="0" dirty="0"/>
              <a:t>reflected in the graphical representation</a:t>
            </a:r>
            <a:r>
              <a:rPr lang="en-US" b="0" noProof="0" dirty="0"/>
              <a:t>?</a:t>
            </a:r>
          </a:p>
          <a:p>
            <a:r>
              <a:rPr lang="en-US" b="0" noProof="0" dirty="0"/>
              <a:t>How can </a:t>
            </a:r>
            <a:r>
              <a:rPr lang="en-US" noProof="0" dirty="0"/>
              <a:t>user interactions</a:t>
            </a:r>
            <a:r>
              <a:rPr lang="en-US" b="0" noProof="0" dirty="0"/>
              <a:t> with the graphical model be </a:t>
            </a:r>
            <a:r>
              <a:rPr lang="en-US" noProof="0" dirty="0"/>
              <a:t>translated</a:t>
            </a:r>
            <a:r>
              <a:rPr lang="en-US" b="0" noProof="0" dirty="0"/>
              <a:t> into valid runtime modifications of the </a:t>
            </a:r>
            <a:r>
              <a:rPr lang="en-US" noProof="0" dirty="0"/>
              <a:t>underlying behavioral program</a:t>
            </a:r>
            <a:r>
              <a:rPr lang="en-US" b="0" noProof="0" dirty="0"/>
              <a:t>?</a:t>
            </a:r>
          </a:p>
          <a:p>
            <a:pPr marL="342900" indent="-342900">
              <a:buFont typeface="+mj-lt"/>
              <a:buAutoNum type="arabicPeriod"/>
            </a:pPr>
            <a:endParaRPr lang="en-US" b="0" noProof="0" dirty="0"/>
          </a:p>
        </p:txBody>
      </p:sp>
    </p:spTree>
    <p:extLst>
      <p:ext uri="{BB962C8B-B14F-4D97-AF65-F5344CB8AC3E}">
        <p14:creationId xmlns:p14="http://schemas.microsoft.com/office/powerpoint/2010/main" val="495701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B691D2A-FA7D-6898-B7CB-9CB8F36D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2454005" cy="492443"/>
          </a:xfrm>
        </p:spPr>
        <p:txBody>
          <a:bodyPr/>
          <a:lstStyle/>
          <a:p>
            <a:r>
              <a:rPr lang="en-US" noProof="0" dirty="0"/>
              <a:t>Background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5075E88-407D-3F0F-8D0D-8D929A3370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5195140" cy="492443"/>
          </a:xfrm>
        </p:spPr>
        <p:txBody>
          <a:bodyPr/>
          <a:lstStyle/>
          <a:p>
            <a:r>
              <a:rPr lang="en-US" noProof="0" dirty="0"/>
              <a:t>Core domains of this thesis</a:t>
            </a:r>
            <a:endParaRPr lang="en-US" i="1" noProof="0" dirty="0"/>
          </a:p>
        </p:txBody>
      </p:sp>
    </p:spTree>
    <p:extLst>
      <p:ext uri="{BB962C8B-B14F-4D97-AF65-F5344CB8AC3E}">
        <p14:creationId xmlns:p14="http://schemas.microsoft.com/office/powerpoint/2010/main" val="3149391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0304-2242-1F32-AB2C-E2BFB6B03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0C570C5-3BD1-2E84-36E3-B69125731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44487"/>
            <a:ext cx="10580687" cy="684213"/>
          </a:xfrm>
        </p:spPr>
        <p:txBody>
          <a:bodyPr/>
          <a:lstStyle/>
          <a:p>
            <a:r>
              <a:rPr lang="en-US" noProof="0" dirty="0"/>
              <a:t>Behavioral Programming</a:t>
            </a:r>
            <a:br>
              <a:rPr lang="en-US" noProof="0" dirty="0"/>
            </a:br>
            <a:r>
              <a:rPr lang="en-US" b="0" noProof="0" dirty="0"/>
              <a:t>Software Development Paradigm</a:t>
            </a:r>
            <a:endParaRPr lang="en-US" noProof="0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DDEFB3D-1D67-62A3-0E5E-1602114122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use cases and scenarios elevated to executable constructs </a:t>
            </a:r>
            <a:r>
              <a:rPr lang="en-US" sz="1200" noProof="0" dirty="0"/>
              <a:t>[1]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behavioral threads (</a:t>
            </a:r>
            <a:r>
              <a:rPr lang="en-US" b="1" noProof="0" dirty="0"/>
              <a:t>b-threads</a:t>
            </a:r>
            <a:r>
              <a:rPr lang="en-US" noProof="0" dirty="0"/>
              <a:t>) as main building blocks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b-threads communication via a shared event mechanism at synchronization points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b-event</a:t>
            </a:r>
            <a:r>
              <a:rPr lang="en-US" noProof="0" dirty="0"/>
              <a:t> types: </a:t>
            </a:r>
            <a:r>
              <a:rPr lang="en-US" i="1" noProof="0" dirty="0"/>
              <a:t>requested</a:t>
            </a:r>
            <a:r>
              <a:rPr lang="en-US" noProof="0" dirty="0"/>
              <a:t>, </a:t>
            </a:r>
            <a:r>
              <a:rPr lang="en-US" i="1" noProof="0" dirty="0"/>
              <a:t>waited-for</a:t>
            </a:r>
            <a:r>
              <a:rPr lang="en-US" noProof="0" dirty="0"/>
              <a:t> and </a:t>
            </a:r>
            <a:r>
              <a:rPr lang="en-US" i="1" noProof="0" dirty="0"/>
              <a:t>blocked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context-oriented extension handling dynamic environment changes</a:t>
            </a:r>
            <a:r>
              <a:rPr lang="en-US" dirty="0"/>
              <a:t> </a:t>
            </a:r>
            <a:r>
              <a:rPr lang="en-US" sz="1200" dirty="0"/>
              <a:t>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05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5BCA1-AAC5-0860-91EF-C5AD9FD5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61E9997-1086-EF73-8647-8566A23E6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344487"/>
            <a:ext cx="10580687" cy="684213"/>
          </a:xfrm>
        </p:spPr>
        <p:txBody>
          <a:bodyPr/>
          <a:lstStyle/>
          <a:p>
            <a:r>
              <a:rPr lang="en-US" noProof="0" dirty="0"/>
              <a:t>Behavioral Programming</a:t>
            </a:r>
            <a:br>
              <a:rPr lang="en-US" noProof="0" dirty="0"/>
            </a:br>
            <a:r>
              <a:rPr lang="en-US" b="0" noProof="0" dirty="0"/>
              <a:t>Water Tank Example</a:t>
            </a:r>
            <a:endParaRPr lang="en-US" noProof="0" dirty="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0750A47F-38C3-0FCD-4C55-837713A36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818" y="1207314"/>
            <a:ext cx="7656364" cy="434498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DA7F210D-C7C7-6FF5-2AF9-CF0E110BD657}"/>
              </a:ext>
            </a:extLst>
          </p:cNvPr>
          <p:cNvSpPr txBox="1"/>
          <p:nvPr/>
        </p:nvSpPr>
        <p:spPr>
          <a:xfrm>
            <a:off x="2267818" y="5552301"/>
            <a:ext cx="7732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accent1"/>
                </a:solidFill>
              </a:rPr>
              <a:t>Water Tank Example [3]</a:t>
            </a:r>
          </a:p>
        </p:txBody>
      </p:sp>
    </p:spTree>
    <p:extLst>
      <p:ext uri="{BB962C8B-B14F-4D97-AF65-F5344CB8AC3E}">
        <p14:creationId xmlns:p14="http://schemas.microsoft.com/office/powerpoint/2010/main" val="112814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691C-490F-2A56-9EB6-EFC0681B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B5031DB6-8FB1-C209-0F31-9734C37B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Universal Variability Language</a:t>
            </a:r>
            <a:br>
              <a:rPr lang="en-US" noProof="0" dirty="0"/>
            </a:br>
            <a:r>
              <a:rPr lang="en-US" b="0" noProof="0" dirty="0"/>
              <a:t>Feature Modeling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17EBF9C5-D6A4-144C-D5A9-090D20A8F3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describing commonalities &amp; variabilities with a software product family (Software Product Lines)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commonly modeled as </a:t>
            </a:r>
            <a:r>
              <a:rPr lang="en-US" b="1" noProof="0" dirty="0"/>
              <a:t>feature trees</a:t>
            </a:r>
            <a:r>
              <a:rPr lang="en-US" noProof="0" dirty="0"/>
              <a:t> </a:t>
            </a:r>
            <a:r>
              <a:rPr lang="en-US" sz="1200" noProof="0" dirty="0"/>
              <a:t>[4]</a:t>
            </a:r>
            <a:endParaRPr lang="en-US" b="1" noProof="0" dirty="0"/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basic parent-child-relationships: </a:t>
            </a:r>
            <a:r>
              <a:rPr lang="en-US" i="1" noProof="0" dirty="0"/>
              <a:t>mandatory</a:t>
            </a:r>
            <a:r>
              <a:rPr lang="en-US" noProof="0" dirty="0"/>
              <a:t>, </a:t>
            </a:r>
            <a:r>
              <a:rPr lang="en-US" i="1" noProof="0" dirty="0"/>
              <a:t>optional</a:t>
            </a:r>
            <a:r>
              <a:rPr lang="en-US" noProof="0" dirty="0"/>
              <a:t>, </a:t>
            </a:r>
            <a:r>
              <a:rPr lang="en-US" i="1" noProof="0" dirty="0"/>
              <a:t>or</a:t>
            </a:r>
            <a:r>
              <a:rPr lang="en-US" noProof="0" dirty="0"/>
              <a:t> &amp; </a:t>
            </a:r>
            <a:r>
              <a:rPr lang="en-US" i="1" noProof="0" dirty="0"/>
              <a:t>alternative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cross-tree constraints, e.g.: </a:t>
            </a:r>
            <a:r>
              <a:rPr lang="en-US" i="1" noProof="0" dirty="0"/>
              <a:t>requires</a:t>
            </a:r>
            <a:r>
              <a:rPr lang="en-US" noProof="0" dirty="0"/>
              <a:t> &amp; </a:t>
            </a:r>
            <a:r>
              <a:rPr lang="en-US" i="1" noProof="0" dirty="0"/>
              <a:t>excludes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cardinality-based modeling: </a:t>
            </a:r>
            <a:r>
              <a:rPr lang="en-US" i="1" noProof="0" dirty="0"/>
              <a:t>feature cardinality </a:t>
            </a:r>
            <a:r>
              <a:rPr lang="en-US" noProof="0" dirty="0"/>
              <a:t>&amp; </a:t>
            </a:r>
            <a:r>
              <a:rPr lang="en-US" i="1" noProof="0" dirty="0"/>
              <a:t>group cardinality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extended feature models via </a:t>
            </a:r>
            <a:r>
              <a:rPr lang="en-US" i="1" noProof="0" dirty="0"/>
              <a:t>feature attributes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endParaRPr lang="en-US" i="1" noProof="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Universal Variability Language </a:t>
            </a:r>
            <a:r>
              <a:rPr lang="en-US" noProof="0" dirty="0"/>
              <a:t>(UVL) as standardized textual exchange format </a:t>
            </a:r>
            <a:r>
              <a:rPr lang="en-US" sz="1200" noProof="0" dirty="0"/>
              <a:t>[5]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765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3B36-0BD1-B6C2-B257-3C765CDF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1E1208B-50F5-BC20-9787-46F4516A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Universal Variability Language</a:t>
            </a:r>
            <a:br>
              <a:rPr lang="en-US" noProof="0" dirty="0"/>
            </a:br>
            <a:r>
              <a:rPr lang="en-US" b="0" noProof="0" dirty="0"/>
              <a:t>Mobile Phone Example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46B59CC-A46B-FA4F-2C2A-1CD214BCE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38" y="1735363"/>
            <a:ext cx="6709903" cy="338727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725325A-7A29-6B5F-F706-479D3BC12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491" y="1517741"/>
            <a:ext cx="4283333" cy="3822516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87464E8-99EF-03D0-7597-3F9906F733B1}"/>
              </a:ext>
            </a:extLst>
          </p:cNvPr>
          <p:cNvSpPr txBox="1"/>
          <p:nvPr/>
        </p:nvSpPr>
        <p:spPr>
          <a:xfrm>
            <a:off x="363738" y="5340257"/>
            <a:ext cx="67099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accent1"/>
                </a:solidFill>
              </a:rPr>
              <a:t>Feature tree for mobile phone example [4]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BE2E7E3-81CD-F211-4082-945D953BEF5A}"/>
              </a:ext>
            </a:extLst>
          </p:cNvPr>
          <p:cNvSpPr txBox="1"/>
          <p:nvPr/>
        </p:nvSpPr>
        <p:spPr>
          <a:xfrm>
            <a:off x="7205456" y="5340256"/>
            <a:ext cx="4348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accent1"/>
                </a:solidFill>
              </a:rPr>
              <a:t>UVL for mobile phone example</a:t>
            </a:r>
          </a:p>
        </p:txBody>
      </p:sp>
    </p:spTree>
    <p:extLst>
      <p:ext uri="{BB962C8B-B14F-4D97-AF65-F5344CB8AC3E}">
        <p14:creationId xmlns:p14="http://schemas.microsoft.com/office/powerpoint/2010/main" val="103220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D9F41-6D37-28CF-1BC0-9018DABD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FC592DB-6F0D-A324-B5AA-E0B925B2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Graphical Language Server Platform</a:t>
            </a:r>
            <a:br>
              <a:rPr lang="en-US" noProof="0" dirty="0"/>
            </a:br>
            <a:r>
              <a:rPr lang="en-US" b="0" noProof="0" dirty="0"/>
              <a:t>Technical foundation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64C405C-0E40-1E5C-BF20-39A2A4EA5F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open-source </a:t>
            </a:r>
            <a:r>
              <a:rPr lang="en-US" b="1" noProof="0" dirty="0"/>
              <a:t>framework</a:t>
            </a:r>
            <a:r>
              <a:rPr lang="en-US" noProof="0" dirty="0"/>
              <a:t> hosted by the Eclipse Foundation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replicates decoupled architecture of Language Server Platform for </a:t>
            </a:r>
            <a:r>
              <a:rPr lang="en-US" b="1" noProof="0" dirty="0"/>
              <a:t>graphical modeling tools </a:t>
            </a:r>
            <a:r>
              <a:rPr lang="en-US" sz="1200" dirty="0"/>
              <a:t>[6]</a:t>
            </a:r>
            <a:endParaRPr lang="en-US" b="1" noProof="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action-based communication via JSON-RPC protocol</a:t>
            </a:r>
          </a:p>
        </p:txBody>
      </p:sp>
      <p:pic>
        <p:nvPicPr>
          <p:cNvPr id="2" name="Picture 2" descr="GLSP">
            <a:extLst>
              <a:ext uri="{FF2B5EF4-FFF2-40B4-BE49-F238E27FC236}">
                <a16:creationId xmlns:a16="http://schemas.microsoft.com/office/drawing/2014/main" id="{B79DD67A-C02B-CD18-C839-788A22BA1B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86152" y="2575687"/>
            <a:ext cx="7471437" cy="313800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917BA93B-4000-3220-B33C-6E2A3A2E6755}"/>
              </a:ext>
            </a:extLst>
          </p:cNvPr>
          <p:cNvSpPr txBox="1"/>
          <p:nvPr/>
        </p:nvSpPr>
        <p:spPr>
          <a:xfrm>
            <a:off x="2186152" y="5748060"/>
            <a:ext cx="7471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accent1"/>
                </a:solidFill>
              </a:rPr>
              <a:t>GLSP framework [6]</a:t>
            </a:r>
          </a:p>
        </p:txBody>
      </p:sp>
    </p:spTree>
    <p:extLst>
      <p:ext uri="{BB962C8B-B14F-4D97-AF65-F5344CB8AC3E}">
        <p14:creationId xmlns:p14="http://schemas.microsoft.com/office/powerpoint/2010/main" val="876924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0D0B-CCCE-4524-C1D3-B0F1BC76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797AE8F-C55D-BD28-FDEB-E837DBAE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3276538" cy="492443"/>
          </a:xfrm>
        </p:spPr>
        <p:txBody>
          <a:bodyPr/>
          <a:lstStyle/>
          <a:p>
            <a:r>
              <a:rPr lang="en-US" noProof="0" dirty="0"/>
              <a:t>State </a:t>
            </a:r>
            <a:r>
              <a:rPr lang="en-US" dirty="0"/>
              <a:t>O</a:t>
            </a:r>
            <a:r>
              <a:rPr lang="en-US" noProof="0" dirty="0"/>
              <a:t>f </a:t>
            </a:r>
            <a:r>
              <a:rPr lang="en-US" dirty="0"/>
              <a:t>T</a:t>
            </a:r>
            <a:r>
              <a:rPr lang="en-US" noProof="0" dirty="0"/>
              <a:t>he Art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0DFD15A-560C-A82D-0580-B90930BA15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5714706" cy="492443"/>
          </a:xfrm>
        </p:spPr>
        <p:txBody>
          <a:bodyPr/>
          <a:lstStyle/>
          <a:p>
            <a:r>
              <a:rPr lang="en-US" noProof="0" dirty="0"/>
              <a:t>Existing Tools &amp; Research Gap</a:t>
            </a:r>
            <a:endParaRPr lang="en-US" i="1" noProof="0" dirty="0"/>
          </a:p>
        </p:txBody>
      </p:sp>
    </p:spTree>
    <p:extLst>
      <p:ext uri="{BB962C8B-B14F-4D97-AF65-F5344CB8AC3E}">
        <p14:creationId xmlns:p14="http://schemas.microsoft.com/office/powerpoint/2010/main" val="288061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1FE6-A2EF-C1AB-1112-A8F90089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A29290A-C501-0AAE-E4DC-D42C8156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State Of The Art</a:t>
            </a:r>
            <a:br>
              <a:rPr lang="en-US" noProof="0" dirty="0"/>
            </a:br>
            <a:r>
              <a:rPr lang="en-US" b="0" noProof="0" dirty="0"/>
              <a:t>Feature Modeling</a:t>
            </a:r>
          </a:p>
        </p:txBody>
      </p:sp>
      <p:pic>
        <p:nvPicPr>
          <p:cNvPr id="5" name="Inhaltsplatzhalter 4" descr="FeatureIDE">
            <a:extLst>
              <a:ext uri="{FF2B5EF4-FFF2-40B4-BE49-F238E27FC236}">
                <a16:creationId xmlns:a16="http://schemas.microsoft.com/office/drawing/2014/main" id="{EC45988B-002E-A1BF-14A0-D98FC7E5418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6267450" y="1464305"/>
            <a:ext cx="5195888" cy="392939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C7A8FEC-BBB3-5603-FC74-F7F3A3144FBE}"/>
              </a:ext>
            </a:extLst>
          </p:cNvPr>
          <p:cNvSpPr txBox="1"/>
          <p:nvPr/>
        </p:nvSpPr>
        <p:spPr>
          <a:xfrm>
            <a:off x="6267450" y="5753515"/>
            <a:ext cx="518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accent1"/>
                </a:solidFill>
              </a:rPr>
              <a:t>UI of FeatureIDE</a:t>
            </a:r>
            <a:r>
              <a:rPr lang="en-US" sz="1200" dirty="0">
                <a:solidFill>
                  <a:schemeClr val="accent1"/>
                </a:solidFill>
              </a:rPr>
              <a:t> [7]</a:t>
            </a:r>
            <a:endParaRPr lang="en-US" sz="1200" noProof="0" dirty="0">
              <a:solidFill>
                <a:schemeClr val="accent1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3884222-8A4A-3C7D-2168-0421766DC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" y="1464305"/>
            <a:ext cx="4557514" cy="4205615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62DAE61-FC72-F7B2-C160-032534C56CDE}"/>
              </a:ext>
            </a:extLst>
          </p:cNvPr>
          <p:cNvSpPr txBox="1"/>
          <p:nvPr/>
        </p:nvSpPr>
        <p:spPr>
          <a:xfrm>
            <a:off x="728662" y="5767415"/>
            <a:ext cx="518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>
                <a:solidFill>
                  <a:schemeClr val="accent1"/>
                </a:solidFill>
              </a:rPr>
              <a:t>VS Code with UVLS extension</a:t>
            </a:r>
          </a:p>
        </p:txBody>
      </p:sp>
    </p:spTree>
    <p:extLst>
      <p:ext uri="{BB962C8B-B14F-4D97-AF65-F5344CB8AC3E}">
        <p14:creationId xmlns:p14="http://schemas.microsoft.com/office/powerpoint/2010/main" val="405646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5AAD2-0DC9-AF4C-62B4-1AC309A6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413DD2C-739E-038A-365B-4E18C65C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</a:t>
            </a:r>
            <a:br>
              <a:rPr lang="en-US" noProof="0" dirty="0"/>
            </a:br>
            <a:r>
              <a:rPr lang="en-US" b="0" noProof="0" dirty="0"/>
              <a:t>Behavioral Programming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CC03A4C-2C07-C8D1-6B00-DB0C10E400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Trace Visualization </a:t>
            </a:r>
            <a:r>
              <a:rPr lang="en-US" sz="1200" noProof="0" dirty="0"/>
              <a:t>[8]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post-execution analysis tool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BP Runtime Debugger </a:t>
            </a:r>
            <a:r>
              <a:rPr lang="en-US" sz="1200" noProof="0" dirty="0"/>
              <a:t>[9]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hooks directly into behavioral program, including state information and runtime controls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537750" lvl="2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0050F8E-E401-AE65-D452-EB4D7620E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104" y="2913139"/>
            <a:ext cx="7353792" cy="246054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01185EF8-57D4-B42D-55AC-C093E889A838}"/>
              </a:ext>
            </a:extLst>
          </p:cNvPr>
          <p:cNvSpPr txBox="1"/>
          <p:nvPr/>
        </p:nvSpPr>
        <p:spPr>
          <a:xfrm>
            <a:off x="2419104" y="5425536"/>
            <a:ext cx="5187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 dirty="0" err="1">
                <a:solidFill>
                  <a:schemeClr val="accent1"/>
                </a:solidFill>
              </a:rPr>
              <a:t>TraceVis</a:t>
            </a:r>
            <a:r>
              <a:rPr lang="en-US" sz="1200" noProof="0" dirty="0">
                <a:solidFill>
                  <a:schemeClr val="accent1"/>
                </a:solidFill>
              </a:rPr>
              <a:t> of Tic-tac-toe game example [8]</a:t>
            </a:r>
          </a:p>
        </p:txBody>
      </p:sp>
    </p:spTree>
    <p:extLst>
      <p:ext uri="{BB962C8B-B14F-4D97-AF65-F5344CB8AC3E}">
        <p14:creationId xmlns:p14="http://schemas.microsoft.com/office/powerpoint/2010/main" val="2535571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5532-0BEB-A899-23A8-63FCD8CD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CDC4C5D-4E0F-C429-4D27-AA2BD25B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</a:t>
            </a:r>
            <a:br>
              <a:rPr lang="en-US" noProof="0" dirty="0"/>
            </a:br>
            <a:r>
              <a:rPr lang="en-US" b="0" noProof="0" dirty="0"/>
              <a:t>Behavioral Programming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989A781B-C910-3A04-85D1-1339EBB04F8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FMBP</a:t>
            </a:r>
            <a:r>
              <a:rPr lang="en-US" noProof="0" dirty="0"/>
              <a:t> as framework for comprehensibility at the architectural design phase </a:t>
            </a:r>
            <a:r>
              <a:rPr lang="en-US" sz="1200" noProof="0" dirty="0"/>
              <a:t>[10]</a:t>
            </a:r>
            <a:endParaRPr lang="en-US" noProof="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extends UVL to represent BP as an Architecture Description Language (ADL) </a:t>
            </a:r>
            <a:r>
              <a:rPr lang="en-US" sz="1200" noProof="0" dirty="0"/>
              <a:t>[3]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b-threads 	➔ feature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b-events 	➔ attributes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context 	➔ additional top-level features </a:t>
            </a:r>
            <a:r>
              <a:rPr lang="en-US" i="1" noProof="0" dirty="0"/>
              <a:t>Config</a:t>
            </a:r>
            <a:r>
              <a:rPr lang="en-US" noProof="0" dirty="0"/>
              <a:t> &amp; </a:t>
            </a:r>
            <a:r>
              <a:rPr lang="en-US" i="1" noProof="0" dirty="0"/>
              <a:t>Env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additional aggregate constraint functions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FMBP includes extended </a:t>
            </a:r>
            <a:r>
              <a:rPr lang="en-US" i="1" noProof="0" dirty="0"/>
              <a:t>UVLS</a:t>
            </a:r>
            <a:r>
              <a:rPr lang="en-US" noProof="0" dirty="0"/>
              <a:t> for BP &amp; Python framework based on </a:t>
            </a:r>
            <a:r>
              <a:rPr lang="en-US" i="1" noProof="0" dirty="0"/>
              <a:t>B</a:t>
            </a:r>
            <a:r>
              <a:rPr lang="en-US" i="1" dirty="0"/>
              <a:t>P</a:t>
            </a:r>
            <a:r>
              <a:rPr lang="en-US" i="1" noProof="0" dirty="0" err="1"/>
              <a:t>py</a:t>
            </a:r>
            <a:r>
              <a:rPr lang="en-US" i="1" noProof="0" dirty="0"/>
              <a:t> </a:t>
            </a:r>
            <a:r>
              <a:rPr lang="en-US" sz="1200" noProof="0" dirty="0"/>
              <a:t>[10]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execute behavioral programs based on UVL model files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2430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1C26-EDA5-00F2-DB78-F18B51DD0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73DD475-0C12-63A1-B84D-E3B279A7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</a:t>
            </a:r>
            <a:br>
              <a:rPr lang="en-US" noProof="0" dirty="0"/>
            </a:br>
            <a:r>
              <a:rPr lang="en-US" b="0" noProof="0" dirty="0"/>
              <a:t>Behavioral Programming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AB4646-2C18-530F-3A5C-EF0C0D159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55" y="1545021"/>
            <a:ext cx="10314289" cy="36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47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4F5E-8AC8-6F3F-924B-B4CECE34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9B3FECF-5908-D5D6-FBB5-BB26B7F2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</a:t>
            </a:r>
            <a:br>
              <a:rPr lang="en-US" noProof="0" dirty="0"/>
            </a:br>
            <a:r>
              <a:rPr lang="en-US" b="0" noProof="0" dirty="0"/>
              <a:t>Research Gap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5B22F61A-4F9E-2035-E6AC-827B839992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FMBP as foundational work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presents ADL for behavioral programs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only textual representation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existing graphical solutions of UVL not extendable on language-level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GLSP as available framework for graphical modeling tools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extensibility: how to separate base UVL from BP-enhanced UVL</a:t>
            </a:r>
          </a:p>
          <a:p>
            <a:pPr marL="537750" lvl="2" indent="-285750">
              <a:buFont typeface="Arial" panose="020B0604020202020204" pitchFamily="34" charset="0"/>
              <a:buChar char="•"/>
            </a:pPr>
            <a:r>
              <a:rPr lang="en-US" noProof="0" dirty="0"/>
              <a:t>runtime integration with model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118381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42ACC-58F6-3142-282F-23A54F2C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09D5E54-6156-C31F-5B86-D15CDD98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3332644" cy="492443"/>
          </a:xfrm>
        </p:spPr>
        <p:txBody>
          <a:bodyPr/>
          <a:lstStyle/>
          <a:p>
            <a:r>
              <a:rPr lang="en-US" noProof="0" dirty="0"/>
              <a:t>Implementation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8D2EB56-6A90-F414-8DE2-745C3D8281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5785045" cy="492443"/>
          </a:xfrm>
        </p:spPr>
        <p:txBody>
          <a:bodyPr/>
          <a:lstStyle/>
          <a:p>
            <a:r>
              <a:rPr lang="en-US" noProof="0" dirty="0"/>
              <a:t>Create GLSP for UVL &amp; UVL-BP</a:t>
            </a:r>
          </a:p>
        </p:txBody>
      </p:sp>
    </p:spTree>
    <p:extLst>
      <p:ext uri="{BB962C8B-B14F-4D97-AF65-F5344CB8AC3E}">
        <p14:creationId xmlns:p14="http://schemas.microsoft.com/office/powerpoint/2010/main" val="782668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5DDF7-9D66-D837-1432-14ABF6EB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072D7B3D-50C6-FF0A-7126-469C35F9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  <a:br>
              <a:rPr lang="en-US" noProof="0" dirty="0"/>
            </a:br>
            <a:r>
              <a:rPr lang="en-US" b="0" noProof="0" dirty="0"/>
              <a:t>Framework Selection</a:t>
            </a:r>
          </a:p>
        </p:txBody>
      </p:sp>
      <p:pic>
        <p:nvPicPr>
          <p:cNvPr id="5" name="Picture 2" descr="GLSP">
            <a:extLst>
              <a:ext uri="{FF2B5EF4-FFF2-40B4-BE49-F238E27FC236}">
                <a16:creationId xmlns:a16="http://schemas.microsoft.com/office/drawing/2014/main" id="{509FBCB0-C9A5-758D-09B6-8E94F68683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01"/>
          <a:stretch>
            <a:fillRect/>
          </a:stretch>
        </p:blipFill>
        <p:spPr bwMode="auto">
          <a:xfrm>
            <a:off x="953295" y="1903026"/>
            <a:ext cx="7471437" cy="25323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" name="Grafik 3" descr="Visual Studio Code - Wikipedia">
            <a:extLst>
              <a:ext uri="{FF2B5EF4-FFF2-40B4-BE49-F238E27FC236}">
                <a16:creationId xmlns:a16="http://schemas.microsoft.com/office/drawing/2014/main" id="{8566E2D8-3CF5-87D5-ECEE-DFD8021F4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559" y="4475283"/>
            <a:ext cx="866980" cy="866980"/>
          </a:xfrm>
          <a:prstGeom prst="rect">
            <a:avLst/>
          </a:prstGeom>
        </p:spPr>
      </p:pic>
      <p:pic>
        <p:nvPicPr>
          <p:cNvPr id="11" name="Grafik 10" descr="Java lernen: Grundlagen, JVM, JDK vs JRE – mit Beispielen (2026)">
            <a:extLst>
              <a:ext uri="{FF2B5EF4-FFF2-40B4-BE49-F238E27FC236}">
                <a16:creationId xmlns:a16="http://schemas.microsoft.com/office/drawing/2014/main" id="{3C6F8C9F-C736-40C2-B0F4-DE8D8FEDA0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860" t="19528" r="50511" b="25395"/>
          <a:stretch>
            <a:fillRect/>
          </a:stretch>
        </p:blipFill>
        <p:spPr>
          <a:xfrm>
            <a:off x="6574632" y="2914863"/>
            <a:ext cx="652583" cy="828000"/>
          </a:xfrm>
          <a:prstGeom prst="rect">
            <a:avLst/>
          </a:prstGeom>
        </p:spPr>
      </p:pic>
      <p:pic>
        <p:nvPicPr>
          <p:cNvPr id="12" name="Grafik 11" descr="UVL · GitHub">
            <a:extLst>
              <a:ext uri="{FF2B5EF4-FFF2-40B4-BE49-F238E27FC236}">
                <a16:creationId xmlns:a16="http://schemas.microsoft.com/office/drawing/2014/main" id="{E6F66283-75E2-5B3B-B0DB-6311797EFBB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56357" y="869950"/>
            <a:ext cx="901700" cy="9017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A67A4562-847D-B912-5FD3-F1F848513184}"/>
              </a:ext>
            </a:extLst>
          </p:cNvPr>
          <p:cNvSpPr txBox="1"/>
          <p:nvPr/>
        </p:nvSpPr>
        <p:spPr>
          <a:xfrm>
            <a:off x="8424732" y="856476"/>
            <a:ext cx="2357568" cy="79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i="1" noProof="0" dirty="0">
                <a:solidFill>
                  <a:srgbClr val="5D708C"/>
                </a:solidFill>
              </a:rPr>
              <a:t>uvl-parser</a:t>
            </a:r>
          </a:p>
          <a:p>
            <a:pPr>
              <a:lnSpc>
                <a:spcPct val="150000"/>
              </a:lnSpc>
            </a:pPr>
            <a:r>
              <a:rPr lang="en-US" sz="1600" b="1" i="1" noProof="0" dirty="0">
                <a:solidFill>
                  <a:srgbClr val="5D708C"/>
                </a:solidFill>
              </a:rPr>
              <a:t>java-fm-metamodel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5078BDA-5093-7F47-245A-3D6D3BAB1CC6}"/>
              </a:ext>
            </a:extLst>
          </p:cNvPr>
          <p:cNvSpPr/>
          <p:nvPr/>
        </p:nvSpPr>
        <p:spPr>
          <a:xfrm>
            <a:off x="9016330" y="2914863"/>
            <a:ext cx="2100393" cy="143806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  <a:p>
            <a:pPr algn="ctr"/>
            <a:endParaRPr lang="en-US" noProof="0" dirty="0">
              <a:solidFill>
                <a:srgbClr val="17828E"/>
              </a:solidFill>
            </a:endParaRPr>
          </a:p>
          <a:p>
            <a:pPr algn="ctr"/>
            <a:endParaRPr lang="en-US" noProof="0" dirty="0">
              <a:solidFill>
                <a:srgbClr val="17828E"/>
              </a:solidFill>
            </a:endParaRPr>
          </a:p>
          <a:p>
            <a:pPr algn="ctr"/>
            <a:endParaRPr lang="en-US" noProof="0" dirty="0">
              <a:solidFill>
                <a:srgbClr val="17828E"/>
              </a:solidFill>
            </a:endParaRPr>
          </a:p>
          <a:p>
            <a:pPr algn="ctr"/>
            <a:r>
              <a:rPr lang="en-US" noProof="0" dirty="0">
                <a:solidFill>
                  <a:schemeClr val="accent2"/>
                </a:solidFill>
              </a:rPr>
              <a:t>Behavioral Program</a:t>
            </a:r>
          </a:p>
          <a:p>
            <a:pPr algn="ctr"/>
            <a:r>
              <a:rPr lang="en-US" b="1" i="1" noProof="0" dirty="0" err="1">
                <a:solidFill>
                  <a:schemeClr val="accent2"/>
                </a:solidFill>
              </a:rPr>
              <a:t>tfelbr</a:t>
            </a:r>
            <a:r>
              <a:rPr lang="en-US" b="1" i="1" noProof="0" dirty="0">
                <a:solidFill>
                  <a:schemeClr val="accent2"/>
                </a:solidFill>
              </a:rPr>
              <a:t>/FMBP</a:t>
            </a:r>
          </a:p>
          <a:p>
            <a:pPr algn="ctr"/>
            <a:endParaRPr lang="en-US" noProof="0" dirty="0">
              <a:solidFill>
                <a:srgbClr val="17828E"/>
              </a:solidFill>
            </a:endParaRPr>
          </a:p>
        </p:txBody>
      </p:sp>
      <p:pic>
        <p:nvPicPr>
          <p:cNvPr id="18" name="Grafik 17" descr="Python (programming language) - Wikipedia">
            <a:extLst>
              <a:ext uri="{FF2B5EF4-FFF2-40B4-BE49-F238E27FC236}">
                <a16:creationId xmlns:a16="http://schemas.microsoft.com/office/drawing/2014/main" id="{42D4BA9C-D94A-2242-00DA-554BA4130B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4016" y="3056876"/>
            <a:ext cx="543974" cy="543974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437A036-5B3D-20F4-0E7E-BC1AEE4D2DAF}"/>
              </a:ext>
            </a:extLst>
          </p:cNvPr>
          <p:cNvCxnSpPr>
            <a:cxnSpLocks/>
          </p:cNvCxnSpPr>
          <p:nvPr/>
        </p:nvCxnSpPr>
        <p:spPr>
          <a:xfrm>
            <a:off x="7556370" y="3600850"/>
            <a:ext cx="1296000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9364A81-F9C5-6CE5-646D-E3D86A8301D7}"/>
              </a:ext>
            </a:extLst>
          </p:cNvPr>
          <p:cNvCxnSpPr>
            <a:cxnSpLocks/>
          </p:cNvCxnSpPr>
          <p:nvPr/>
        </p:nvCxnSpPr>
        <p:spPr>
          <a:xfrm flipH="1">
            <a:off x="7556370" y="3746107"/>
            <a:ext cx="1296000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2D67D3A-8BF2-AA89-6262-076948D890AA}"/>
              </a:ext>
            </a:extLst>
          </p:cNvPr>
          <p:cNvCxnSpPr>
            <a:cxnSpLocks/>
          </p:cNvCxnSpPr>
          <p:nvPr/>
        </p:nvCxnSpPr>
        <p:spPr>
          <a:xfrm flipH="1">
            <a:off x="7556370" y="3846119"/>
            <a:ext cx="1296000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5A639369-A419-FA2B-D413-E715FA22DFC6}"/>
              </a:ext>
            </a:extLst>
          </p:cNvPr>
          <p:cNvCxnSpPr>
            <a:cxnSpLocks/>
          </p:cNvCxnSpPr>
          <p:nvPr/>
        </p:nvCxnSpPr>
        <p:spPr>
          <a:xfrm flipH="1">
            <a:off x="7556370" y="3946133"/>
            <a:ext cx="1296000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76554AF7-8B3A-77DB-8910-26DCB273CCAB}"/>
              </a:ext>
            </a:extLst>
          </p:cNvPr>
          <p:cNvSpPr txBox="1"/>
          <p:nvPr/>
        </p:nvSpPr>
        <p:spPr>
          <a:xfrm>
            <a:off x="7179272" y="4496444"/>
            <a:ext cx="2357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noProof="0" dirty="0">
                <a:solidFill>
                  <a:schemeClr val="accent2"/>
                </a:solidFill>
              </a:rPr>
              <a:t>Server-Sent Events (SSE)</a:t>
            </a:r>
            <a:endParaRPr lang="en-US" i="1" noProof="0" dirty="0">
              <a:solidFill>
                <a:schemeClr val="accent2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2A4426A-15D9-B32B-93F0-BCD89895A61E}"/>
              </a:ext>
            </a:extLst>
          </p:cNvPr>
          <p:cNvCxnSpPr>
            <a:cxnSpLocks/>
          </p:cNvCxnSpPr>
          <p:nvPr/>
        </p:nvCxnSpPr>
        <p:spPr>
          <a:xfrm flipH="1">
            <a:off x="7556370" y="4055670"/>
            <a:ext cx="1296000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96B70BD-446F-4AF4-B38F-98880A7CE03A}"/>
              </a:ext>
            </a:extLst>
          </p:cNvPr>
          <p:cNvCxnSpPr>
            <a:cxnSpLocks/>
          </p:cNvCxnSpPr>
          <p:nvPr/>
        </p:nvCxnSpPr>
        <p:spPr>
          <a:xfrm flipH="1">
            <a:off x="7556370" y="4155682"/>
            <a:ext cx="1296000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fik 29" descr="Visual Studio Code - Wikipedia">
            <a:extLst>
              <a:ext uri="{FF2B5EF4-FFF2-40B4-BE49-F238E27FC236}">
                <a16:creationId xmlns:a16="http://schemas.microsoft.com/office/drawing/2014/main" id="{A3F38676-1868-150C-6B68-7B0EED3C4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159" y="4475283"/>
            <a:ext cx="866980" cy="86698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A0F853C3-367B-3EB9-DC42-7C48E61D36FB}"/>
              </a:ext>
            </a:extLst>
          </p:cNvPr>
          <p:cNvSpPr txBox="1"/>
          <p:nvPr/>
        </p:nvSpPr>
        <p:spPr>
          <a:xfrm>
            <a:off x="1258560" y="5382180"/>
            <a:ext cx="866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noProof="0" dirty="0">
                <a:solidFill>
                  <a:srgbClr val="016EB3"/>
                </a:solidFill>
              </a:rPr>
              <a:t>UVL</a:t>
            </a:r>
            <a:endParaRPr lang="en-US" b="1" noProof="0" dirty="0">
              <a:solidFill>
                <a:srgbClr val="016EB3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A5C161A-46EE-9E53-5B4E-F96F90747D68}"/>
              </a:ext>
            </a:extLst>
          </p:cNvPr>
          <p:cNvSpPr txBox="1"/>
          <p:nvPr/>
        </p:nvSpPr>
        <p:spPr>
          <a:xfrm>
            <a:off x="2611241" y="5382180"/>
            <a:ext cx="954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noProof="0" dirty="0">
                <a:solidFill>
                  <a:srgbClr val="016EB3"/>
                </a:solidFill>
              </a:rPr>
              <a:t>UVL-BP</a:t>
            </a:r>
            <a:endParaRPr lang="en-US" b="1" noProof="0" dirty="0">
              <a:solidFill>
                <a:srgbClr val="016E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28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 animBg="1"/>
      <p:bldP spid="26" grpId="0"/>
      <p:bldP spid="31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3731-FAEF-F386-C6BD-DB3F10E9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089B87A-EE73-1EF5-C0BA-8000D1AC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  <a:br>
              <a:rPr lang="en-US" noProof="0" dirty="0"/>
            </a:br>
            <a:r>
              <a:rPr lang="en-US" b="0" noProof="0" dirty="0"/>
              <a:t>Extending UVL Metamodel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3186F3D-0327-36F8-CC1B-D4BB9F238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1" y="1394303"/>
            <a:ext cx="8668960" cy="4525006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C8140676-6F85-B410-8EDA-B93D896E2856}"/>
              </a:ext>
            </a:extLst>
          </p:cNvPr>
          <p:cNvSpPr/>
          <p:nvPr/>
        </p:nvSpPr>
        <p:spPr>
          <a:xfrm>
            <a:off x="5791200" y="1295399"/>
            <a:ext cx="3638550" cy="4286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F39CD81-FA6F-5FC5-751E-E3B6A18D16BA}"/>
              </a:ext>
            </a:extLst>
          </p:cNvPr>
          <p:cNvSpPr/>
          <p:nvPr/>
        </p:nvSpPr>
        <p:spPr>
          <a:xfrm>
            <a:off x="1162050" y="2019299"/>
            <a:ext cx="3638550" cy="57150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D1AD019-2990-0319-989D-919B9359B2C2}"/>
              </a:ext>
            </a:extLst>
          </p:cNvPr>
          <p:cNvSpPr/>
          <p:nvPr/>
        </p:nvSpPr>
        <p:spPr>
          <a:xfrm>
            <a:off x="1162049" y="5347806"/>
            <a:ext cx="7248525" cy="57150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893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E5C90F-C649-F8AE-EABC-A12DF59C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9910E735-3629-BD2C-1A2F-517EA757CC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E07D749-A250-EA58-3786-8CE396544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622" y="137746"/>
            <a:ext cx="8642755" cy="585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77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9387D-8008-DED8-A568-C0368337F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C5BA23A3-734E-C15A-81BD-52696833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  <a:br>
              <a:rPr lang="en-US" noProof="0" dirty="0"/>
            </a:br>
            <a:r>
              <a:rPr lang="en-US" b="0" noProof="0" dirty="0"/>
              <a:t>Extending UVL Metamodel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32E9DB0-EF40-A5E1-DAE6-B00800753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3" y="1251609"/>
            <a:ext cx="5919788" cy="235014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1DC46F9-D176-BC01-B132-CD889237B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13" y="3515096"/>
            <a:ext cx="6364918" cy="2547395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D31B8A30-055B-B796-7955-05CE98C8214A}"/>
              </a:ext>
            </a:extLst>
          </p:cNvPr>
          <p:cNvSpPr/>
          <p:nvPr/>
        </p:nvSpPr>
        <p:spPr>
          <a:xfrm>
            <a:off x="1055171" y="1251609"/>
            <a:ext cx="4478729" cy="68421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D0899B5-7C7B-541C-6FD3-A5E1599028B0}"/>
              </a:ext>
            </a:extLst>
          </p:cNvPr>
          <p:cNvSpPr/>
          <p:nvPr/>
        </p:nvSpPr>
        <p:spPr>
          <a:xfrm>
            <a:off x="1055170" y="3515096"/>
            <a:ext cx="4597485" cy="45960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74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649E4-AB71-7728-4839-94E50546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0211D96-D5EB-8BF9-F33F-05E122CC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  <a:br>
              <a:rPr lang="en-US" noProof="0" dirty="0"/>
            </a:br>
            <a:r>
              <a:rPr lang="en-US" b="0" noProof="0" dirty="0"/>
              <a:t>Extending FMBP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044C6E8-D4DC-6E43-804A-22D711EBE8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selected b-events		 ➔ extension based on </a:t>
            </a:r>
            <a:r>
              <a:rPr lang="en-US" i="1" noProof="0" dirty="0" err="1"/>
              <a:t>BPConfigurator</a:t>
            </a:r>
            <a:endParaRPr lang="en-US" i="1" noProof="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dynamic environment attributes	 ➔ decorator for context sources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single SSE server sending model path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59B5857-E885-F22C-6F62-E5E579601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718" y="2494296"/>
            <a:ext cx="7040564" cy="333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6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3ADC6-3BED-A29E-5D77-DA40623B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044351C-7A14-0B08-90F6-C69E5860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  <a:br>
              <a:rPr lang="en-US" noProof="0" dirty="0"/>
            </a:br>
            <a:r>
              <a:rPr lang="en-US" b="0" noProof="0" dirty="0"/>
              <a:t>GLSP package structure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D0FA7F5-3FA5-FE63-DF64-7797DD92B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1" y="1484313"/>
            <a:ext cx="10676152" cy="388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4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B13DA-3F78-B5E7-A494-F888F432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A380D11-B364-0E4D-C131-1F70F821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  <a:br>
              <a:rPr lang="en-US" noProof="0" dirty="0"/>
            </a:br>
            <a:r>
              <a:rPr lang="en-US" b="0" noProof="0" dirty="0"/>
              <a:t>Extending uvl.glsp to uvl.bp.glsp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092FC7-5D18-46DA-7083-98EED82C1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66" y="1295711"/>
            <a:ext cx="7596937" cy="4722187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B1E5191A-2EC7-6D93-78FD-C6ED730448EF}"/>
              </a:ext>
            </a:extLst>
          </p:cNvPr>
          <p:cNvSpPr/>
          <p:nvPr/>
        </p:nvSpPr>
        <p:spPr>
          <a:xfrm>
            <a:off x="1364264" y="1496308"/>
            <a:ext cx="6749426" cy="8605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0A0C04A-8D80-F670-6BEF-EE11ADAE84F8}"/>
              </a:ext>
            </a:extLst>
          </p:cNvPr>
          <p:cNvSpPr/>
          <p:nvPr/>
        </p:nvSpPr>
        <p:spPr>
          <a:xfrm>
            <a:off x="1364264" y="2509234"/>
            <a:ext cx="5590328" cy="8605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ADD2B4-75CA-FAF0-DBE2-DA9AB167818A}"/>
              </a:ext>
            </a:extLst>
          </p:cNvPr>
          <p:cNvSpPr/>
          <p:nvPr/>
        </p:nvSpPr>
        <p:spPr>
          <a:xfrm>
            <a:off x="1364263" y="3530745"/>
            <a:ext cx="7087839" cy="203154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8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49C78-6B6F-3069-A38F-E32FC554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A0E14D7-5D3D-8AE7-57A9-72289145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  <a:br>
              <a:rPr lang="en-US" noProof="0" dirty="0"/>
            </a:br>
            <a:r>
              <a:rPr lang="en-US" b="0" noProof="0" dirty="0"/>
              <a:t>Extending uvl.glsp to uvl.bp.glsp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E2B738-7592-FF1F-8641-A9D23E3417B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40413" y="1484313"/>
            <a:ext cx="3414985" cy="4344987"/>
          </a:xfrm>
        </p:spPr>
        <p:txBody>
          <a:bodyPr/>
          <a:lstStyle/>
          <a:p>
            <a:endParaRPr lang="en-US" b="0" noProof="0" dirty="0"/>
          </a:p>
          <a:p>
            <a:r>
              <a:rPr lang="en-US" b="0" noProof="0" dirty="0"/>
              <a:t>Overridden source model storage and GModel state</a:t>
            </a:r>
          </a:p>
          <a:p>
            <a:endParaRPr lang="en-US" b="0" noProof="0" dirty="0"/>
          </a:p>
          <a:p>
            <a:endParaRPr lang="en-US" b="0" noProof="0" dirty="0"/>
          </a:p>
          <a:p>
            <a:endParaRPr lang="en-US" b="0" noProof="0" dirty="0"/>
          </a:p>
          <a:p>
            <a:endParaRPr lang="en-US" b="0" noProof="0" dirty="0"/>
          </a:p>
          <a:p>
            <a:r>
              <a:rPr lang="en-US" b="0" noProof="0" dirty="0"/>
              <a:t>Reuse existing operation handlers</a:t>
            </a:r>
          </a:p>
          <a:p>
            <a:r>
              <a:rPr lang="en-US" b="0" noProof="0" dirty="0"/>
              <a:t>Rebind required operation handlers</a:t>
            </a:r>
          </a:p>
          <a:p>
            <a:r>
              <a:rPr lang="en-US" b="0" noProof="0" dirty="0"/>
              <a:t>Add new BP-related handlers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C6727A6-AC16-ABB8-7D77-EB313EC7E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1" y="1299980"/>
            <a:ext cx="7165703" cy="47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00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5719-2AAC-7C1C-9B76-BF09B250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134044E-A980-5335-011F-7F5132B1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Implementation</a:t>
            </a:r>
            <a:br>
              <a:rPr lang="en-US" noProof="0" dirty="0"/>
            </a:br>
            <a:r>
              <a:rPr lang="en-US" b="0" dirty="0"/>
              <a:t>GLSP-based multi-profile VS Code extensions</a:t>
            </a:r>
            <a:endParaRPr lang="en-US" b="0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CA288C2-37F4-AE9D-DB0D-AD7F5BFA9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96" y="1983184"/>
            <a:ext cx="11531408" cy="289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569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F9DB-0C27-3931-6B1E-9B900011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D801410-F191-9BA4-5E95-48C0F5A7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1203856" cy="492443"/>
          </a:xfrm>
        </p:spPr>
        <p:txBody>
          <a:bodyPr/>
          <a:lstStyle/>
          <a:p>
            <a:r>
              <a:rPr lang="en-US" noProof="0" dirty="0"/>
              <a:t>Demo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C88E9E-30A9-0DBD-9A2E-E8F1509BAB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7179851" cy="492443"/>
          </a:xfrm>
        </p:spPr>
        <p:txBody>
          <a:bodyPr/>
          <a:lstStyle/>
          <a:p>
            <a:r>
              <a:rPr lang="en-US" noProof="0" dirty="0"/>
              <a:t>VS Code Extensions for UVL &amp; UVL-BP</a:t>
            </a:r>
          </a:p>
        </p:txBody>
      </p:sp>
    </p:spTree>
    <p:extLst>
      <p:ext uri="{BB962C8B-B14F-4D97-AF65-F5344CB8AC3E}">
        <p14:creationId xmlns:p14="http://schemas.microsoft.com/office/powerpoint/2010/main" val="3289218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B10558C-EC6D-65A8-A153-0272FDB376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2697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428A-2571-E0EB-5B1C-7A3129D4A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9D345E8-44CB-B814-6141-4086A093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2181687" cy="492443"/>
          </a:xfrm>
        </p:spPr>
        <p:txBody>
          <a:bodyPr/>
          <a:lstStyle/>
          <a:p>
            <a:r>
              <a:rPr lang="en-US" noProof="0" dirty="0"/>
              <a:t>Evaluation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E110DF-2670-5550-9DEB-E35403511A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5499519" cy="492443"/>
          </a:xfrm>
        </p:spPr>
        <p:txBody>
          <a:bodyPr/>
          <a:lstStyle/>
          <a:p>
            <a:r>
              <a:rPr lang="en-US" noProof="0" dirty="0"/>
              <a:t>Contributions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2043644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5C8F-81BA-DD23-F4FC-293E7975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A4ABE-EAA1-F0B4-4C9F-F591BD6D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Evaluation</a:t>
            </a:r>
            <a:br>
              <a:rPr lang="en-US" noProof="0" dirty="0"/>
            </a:br>
            <a:r>
              <a:rPr lang="en-US" b="0" noProof="0" dirty="0"/>
              <a:t>Contributions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CA3026-D5B9-6686-6B99-84131341A3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4"/>
            <a:ext cx="10580688" cy="601662"/>
          </a:xfrm>
        </p:spPr>
        <p:txBody>
          <a:bodyPr/>
          <a:lstStyle/>
          <a:p>
            <a:pPr marL="342900" indent="-342900">
              <a:buAutoNum type="arabicPeriod"/>
            </a:pPr>
            <a:endParaRPr lang="en-US" b="0" noProof="0" dirty="0"/>
          </a:p>
          <a:p>
            <a:pPr marL="342900" indent="-342900">
              <a:buFont typeface="+mj-lt"/>
              <a:buAutoNum type="arabicPeriod"/>
            </a:pPr>
            <a:endParaRPr lang="en-US" b="0" noProof="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9475F18-8F54-FFD3-23F6-5EA7F3CC473B}"/>
              </a:ext>
            </a:extLst>
          </p:cNvPr>
          <p:cNvSpPr txBox="1">
            <a:spLocks/>
          </p:cNvSpPr>
          <p:nvPr/>
        </p:nvSpPr>
        <p:spPr>
          <a:xfrm>
            <a:off x="874712" y="1484314"/>
            <a:ext cx="630239" cy="394335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Char char="—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52000" indent="-144000" algn="l" defTabSz="914269" rtl="0" eaLnBrk="1" latinLnBrk="0" hangingPunct="1">
              <a:spcBef>
                <a:spcPts val="0"/>
              </a:spcBef>
              <a:buFont typeface="Open Sans" panose="020B0606030504020204" pitchFamily="34" charset="0"/>
              <a:buChar char="–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52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96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noProof="0" dirty="0"/>
              <a:t>1.          </a:t>
            </a:r>
            <a:endParaRPr lang="en-US" b="0" dirty="0">
              <a:solidFill>
                <a:schemeClr val="bg1"/>
              </a:solidFill>
            </a:endParaRPr>
          </a:p>
          <a:p>
            <a:endParaRPr lang="en-US" b="0" noProof="0" dirty="0"/>
          </a:p>
          <a:p>
            <a:r>
              <a:rPr lang="en-US" b="0" noProof="0" dirty="0"/>
              <a:t>2.  </a:t>
            </a:r>
            <a:endParaRPr lang="en-US" b="0" noProof="0" dirty="0">
              <a:solidFill>
                <a:schemeClr val="bg1"/>
              </a:solidFill>
            </a:endParaRPr>
          </a:p>
          <a:p>
            <a:endParaRPr lang="en-US" b="0" noProof="0" dirty="0"/>
          </a:p>
          <a:p>
            <a:r>
              <a:rPr lang="en-US" b="0" noProof="0" dirty="0"/>
              <a:t>3.1.  </a:t>
            </a:r>
            <a:endParaRPr lang="en-US" b="0" noProof="0" dirty="0">
              <a:solidFill>
                <a:schemeClr val="bg1"/>
              </a:solidFill>
            </a:endParaRPr>
          </a:p>
          <a:p>
            <a:endParaRPr lang="en-US" b="0" noProof="0" dirty="0"/>
          </a:p>
          <a:p>
            <a:r>
              <a:rPr lang="en-US" b="0" noProof="0" dirty="0"/>
              <a:t>3.2.          </a:t>
            </a:r>
            <a:r>
              <a:rPr lang="en-US" b="0" noProof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151035C-C2D0-EBB4-7087-7D05C18A7EF9}"/>
              </a:ext>
            </a:extLst>
          </p:cNvPr>
          <p:cNvSpPr txBox="1">
            <a:spLocks/>
          </p:cNvSpPr>
          <p:nvPr/>
        </p:nvSpPr>
        <p:spPr>
          <a:xfrm>
            <a:off x="1322386" y="1484315"/>
            <a:ext cx="10202864" cy="427535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Char char="—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52000" indent="-144000" algn="l" defTabSz="914269" rtl="0" eaLnBrk="1" latinLnBrk="0" hangingPunct="1">
              <a:spcBef>
                <a:spcPts val="0"/>
              </a:spcBef>
              <a:buFont typeface="Open Sans" panose="020B0606030504020204" pitchFamily="34" charset="0"/>
              <a:buChar char="–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52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96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Feasibility:</a:t>
            </a:r>
          </a:p>
          <a:p>
            <a:r>
              <a:rPr lang="en-US" b="0" noProof="0" dirty="0"/>
              <a:t>Graphical editor built on GLSP, supports modeling of contextual BP models</a:t>
            </a:r>
          </a:p>
          <a:p>
            <a:r>
              <a:rPr lang="en-US" noProof="0" dirty="0"/>
              <a:t>Extensibility:</a:t>
            </a:r>
          </a:p>
          <a:p>
            <a:r>
              <a:rPr lang="en-US" b="0" noProof="0" dirty="0"/>
              <a:t>Architecture separating core UVL modeling from the BP extension using profile-based approach</a:t>
            </a:r>
          </a:p>
          <a:p>
            <a:r>
              <a:rPr lang="en-US" dirty="0"/>
              <a:t>Runtime synchronization: Behavioral Program ➔ Graphical View</a:t>
            </a:r>
            <a:endParaRPr lang="en-US" noProof="0" dirty="0"/>
          </a:p>
          <a:p>
            <a:r>
              <a:rPr lang="en-US" b="0" noProof="0" dirty="0"/>
              <a:t>Extend FMBP providing runtime information using SSE</a:t>
            </a:r>
          </a:p>
          <a:p>
            <a:r>
              <a:rPr lang="en-US" dirty="0"/>
              <a:t>Runtime synchronization: Graphical View ➔ Behavioral Program </a:t>
            </a:r>
          </a:p>
          <a:p>
            <a:r>
              <a:rPr lang="en-US" b="0" noProof="0" dirty="0"/>
              <a:t>Working on the same UVL model, changes are applied via FMBP integration</a:t>
            </a:r>
          </a:p>
          <a:p>
            <a:pPr marL="342900" indent="-342900">
              <a:buFont typeface="+mj-lt"/>
              <a:buAutoNum type="arabicPeriod"/>
            </a:pPr>
            <a:endParaRPr lang="en-US" b="0" noProof="0" dirty="0"/>
          </a:p>
        </p:txBody>
      </p:sp>
    </p:spTree>
    <p:extLst>
      <p:ext uri="{BB962C8B-B14F-4D97-AF65-F5344CB8AC3E}">
        <p14:creationId xmlns:p14="http://schemas.microsoft.com/office/powerpoint/2010/main" val="175456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76E72-97F0-21AF-38B4-85DDAC40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60F66BE-E71D-A1CF-1E86-476C9D912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Future Work</a:t>
            </a:r>
            <a:br>
              <a:rPr lang="en-US" noProof="0" dirty="0"/>
            </a:br>
            <a:r>
              <a:rPr lang="en-US" b="0" noProof="0" dirty="0"/>
              <a:t>Improve the proposed tool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979C4D7-0242-F068-FBDD-454F9BCF83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improve performance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architecture and maintainability through smaller modules &amp; BP-specific grammar and metamodel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improvements to visuals &amp; usability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additional editor views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end-to-end tests via Playwright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new extensions based on UVL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9532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22A9620-4DF4-F313-19E9-6E3E4054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5953553" cy="492443"/>
          </a:xfrm>
        </p:spPr>
        <p:txBody>
          <a:bodyPr/>
          <a:lstStyle/>
          <a:p>
            <a:r>
              <a:rPr lang="en-US" noProof="0" dirty="0"/>
              <a:t>Thank you for your attention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32AA2D3-FE0D-095D-BDCA-6C8D7D7F08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4498026" cy="492443"/>
          </a:xfrm>
        </p:spPr>
        <p:txBody>
          <a:bodyPr/>
          <a:lstStyle/>
          <a:p>
            <a:r>
              <a:rPr lang="en-US" noProof="0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3468905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151653A-FEDD-8886-88D0-88AA02D4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Bibliography</a:t>
            </a:r>
            <a:br>
              <a:rPr lang="en-US" noProof="0" dirty="0"/>
            </a:br>
            <a:r>
              <a:rPr lang="en-US" b="0" noProof="0" dirty="0"/>
              <a:t>References to the literature and images</a:t>
            </a:r>
            <a:endParaRPr lang="en-US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C34F91C-601A-9DE4-B576-C69D42461D1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29897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noProof="0" dirty="0"/>
              <a:t>[1] David Harel, Assaf Marron, and Gera Weiss. “Behavioral programming”. In: Commun. ACM 55.7 (July 1, 2012), pp. 90–100. ISSN: 0001-0782. DOI: 10.1145/2209249.2209270</a:t>
            </a:r>
            <a:endParaRPr lang="en-US" sz="1100" b="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noProof="0" dirty="0"/>
              <a:t>[2] </a:t>
            </a:r>
            <a:r>
              <a:rPr lang="en-US" sz="1100" b="0" noProof="0" dirty="0" err="1"/>
              <a:t>Achiya</a:t>
            </a:r>
            <a:r>
              <a:rPr lang="en-US" sz="1100" b="0" noProof="0" dirty="0"/>
              <a:t> Elyasaf. “Context-Oriented Behavioral Programming”. In: Information and Software Technology 133 (May 1, 2021). ISSN: 0950-5849. DOI: 10.1016/j.infsof.2020.106504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noProof="0" dirty="0"/>
              <a:t>[</a:t>
            </a:r>
            <a:r>
              <a:rPr lang="en-US" sz="1100" b="0" dirty="0"/>
              <a:t>3</a:t>
            </a:r>
            <a:r>
              <a:rPr lang="en-US" sz="1100" b="0" noProof="0" dirty="0"/>
              <a:t>] Tom Felber and Sebastian Götz. “Behavioral Programming in the Large using Variability Management”. In: Proceedings of the 19th International Working Conference on Variability Modelling of Software-Intensive Systems. </a:t>
            </a:r>
            <a:r>
              <a:rPr lang="en-US" sz="1100" b="0" noProof="0" dirty="0" err="1"/>
              <a:t>VaMoS</a:t>
            </a:r>
            <a:r>
              <a:rPr lang="en-US" sz="1100" b="0" noProof="0" dirty="0"/>
              <a:t> ’25. New York, NY, USA: Association for Computing Machinery, May 28, 2025, pp. 126–130. ISBN: 979-8-4007-1441-2. DOI: 10.1145/3715340.3715443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noProof="0" dirty="0"/>
              <a:t>[4] David Benavides, Sergio Segura, and Antonio Ruiz-Cortés. “Automated analysis of feature models 20 years later: A literature review”. In: Information Systems 35.6 (Sept. 1, 2010), pp. 615–636. ISSN: 0306-4379. DOI: 10.1016/j.is.2010.01.001</a:t>
            </a:r>
            <a:endParaRPr lang="en-US" sz="1100" b="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noProof="0" dirty="0"/>
              <a:t>[5] David Benavides et al. “UVL: Feature modelling with the Universal Variability Language”. In: Journal of Systems and Software 225 (July 1, 2025). ISSN: 0164-1212. DOI: 10.1016/j.jss.2024.112326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noProof="0" dirty="0"/>
              <a:t>[6] Dominik Bork, Philip Langer, and Tobias </a:t>
            </a:r>
            <a:r>
              <a:rPr lang="en-US" sz="1100" b="0" noProof="0" dirty="0" err="1"/>
              <a:t>Ortmayr</a:t>
            </a:r>
            <a:r>
              <a:rPr lang="en-US" sz="1100" b="0" noProof="0" dirty="0"/>
              <a:t>. “A Vision for Flexible GLSP-Based Web Modeling Tools”. In: The Practice of Enterprise Modeling. Ed. by João Paulo A. Almeida et al. Cham: Springer Nature Switzerland, 2024, pp. 109–124. ISBN: 978-3-031-48583-1. DOI: 10.1007/978-3-031-48583-1_7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noProof="0" dirty="0"/>
              <a:t>[7] FeatureIDE. </a:t>
            </a:r>
            <a:r>
              <a:rPr lang="en-US" sz="1100" b="0" noProof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https://featureide.de/</a:t>
            </a:r>
            <a:r>
              <a:rPr lang="en-US" sz="1100" b="0" noProof="0" dirty="0"/>
              <a:t> (22.06.2026)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050" b="0" noProof="0" dirty="0"/>
              <a:t>[8] </a:t>
            </a:r>
            <a:r>
              <a:rPr lang="en-US" sz="1100" b="0" noProof="0" dirty="0"/>
              <a:t>Nir Eitan et al. “On Visualization and Comprehension of Scenario-Based Programs”. In: 2011 IEEE 19th International Conference on Program Comprehension. 2011 IEEE 19th International Conference on Program Comprehension. ISSN: 1092-8138. June 2011, pp. 189–192. DOI: 10.1109/ICPC.2011.10</a:t>
            </a:r>
            <a:endParaRPr lang="en-US" sz="1100" b="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noProof="0" dirty="0"/>
              <a:t>[9] Tom Felber and Sebastian Götz. “Debugging Behavioral Programs Using </a:t>
            </a:r>
            <a:r>
              <a:rPr lang="en-US" sz="1100" b="0" dirty="0"/>
              <a:t>M</a:t>
            </a:r>
            <a:r>
              <a:rPr lang="en-US" sz="1100" b="0" noProof="0" dirty="0" err="1"/>
              <a:t>odels</a:t>
            </a:r>
            <a:r>
              <a:rPr lang="en-US" sz="1100" b="0" dirty="0"/>
              <a:t>@</a:t>
            </a:r>
            <a:r>
              <a:rPr lang="en-US" sz="1100" b="0" noProof="0" dirty="0" err="1"/>
              <a:t>run.time</a:t>
            </a:r>
            <a:r>
              <a:rPr lang="en-US" sz="1100" b="0" noProof="0" dirty="0"/>
              <a:t>”. In: 2024 50th </a:t>
            </a:r>
            <a:r>
              <a:rPr lang="en-US" sz="1100" b="0" noProof="0" dirty="0" err="1"/>
              <a:t>Euromicro</a:t>
            </a:r>
            <a:r>
              <a:rPr lang="en-US" sz="1100" b="0" noProof="0" dirty="0"/>
              <a:t> Conference on Software Engineering and Advanced Applications (SEAA). 2024 50th </a:t>
            </a:r>
            <a:r>
              <a:rPr lang="en-US" sz="1100" b="0" noProof="0" dirty="0" err="1"/>
              <a:t>Euromicro</a:t>
            </a:r>
            <a:r>
              <a:rPr lang="en-US" sz="1100" b="0" noProof="0" dirty="0"/>
              <a:t> Conference on Software Engineering and Advanced Applications (SEAA). ISSN: 2376-9521. Aug. 2024, pp. 160–167. DOI: 10.1109/SEAA64295.2024.00032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100" b="0" dirty="0"/>
              <a:t>[10] Tom Felber and Sebastian Götz. “Comprehensible Self-Aware Behavioral Programming”. In: 2025 IEEE International Conference on Autonomic Computing and Self-Organizing Systems Companion (ACSOS-C). 2025 IEEE International Conference on Autonomic Computing and Self-Organizing Systems Companion (ACSOS-C). Sept. 2025, pp. 215–220. DOI: 10.1109/ACSOS-C66519.2025.00064</a:t>
            </a:r>
            <a:endParaRPr lang="en-US" sz="1050" b="0" noProof="0" dirty="0"/>
          </a:p>
        </p:txBody>
      </p:sp>
    </p:spTree>
    <p:extLst>
      <p:ext uri="{BB962C8B-B14F-4D97-AF65-F5344CB8AC3E}">
        <p14:creationId xmlns:p14="http://schemas.microsoft.com/office/powerpoint/2010/main" val="3790437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2AD0-0B2B-0514-B050-EF2F9EE9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C145967B-8D48-E9FA-A2C6-955678C5F2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49242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6237-4D92-CF2A-C057-8840ABFDA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7677560-184C-1E85-0050-3C35F0CF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1936428" cy="492443"/>
          </a:xfrm>
        </p:spPr>
        <p:txBody>
          <a:bodyPr/>
          <a:lstStyle/>
          <a:p>
            <a:r>
              <a:rPr lang="en-US" noProof="0" dirty="0"/>
              <a:t>Appendix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9339E6-8FDF-C2C5-4C81-5E7DBDE4ED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3137077" cy="492443"/>
          </a:xfrm>
        </p:spPr>
        <p:txBody>
          <a:bodyPr/>
          <a:lstStyle/>
          <a:p>
            <a:r>
              <a:rPr lang="en-US" noProof="0" dirty="0"/>
              <a:t>Additional slides</a:t>
            </a:r>
          </a:p>
        </p:txBody>
      </p:sp>
    </p:spTree>
    <p:extLst>
      <p:ext uri="{BB962C8B-B14F-4D97-AF65-F5344CB8AC3E}">
        <p14:creationId xmlns:p14="http://schemas.microsoft.com/office/powerpoint/2010/main" val="2263763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8288CB2-03E6-9914-906C-4FF703E8B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GLSP Example Model</a:t>
            </a:r>
            <a:br>
              <a:rPr lang="en-US" noProof="0" dirty="0"/>
            </a:br>
            <a:r>
              <a:rPr lang="en-US" b="0" noProof="0" dirty="0"/>
              <a:t>Mobile Phone</a:t>
            </a:r>
            <a:endParaRPr lang="en-US" noProof="0" dirty="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3BC263CE-4DBD-99DD-FEA8-E68B1902567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962332" y="1205087"/>
            <a:ext cx="10405446" cy="48222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0879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0D3C-C502-DFA3-5220-4DC1FC114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3A9D6ED-C5F7-7746-3E7E-1CB74ABA2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GLSP Example Model</a:t>
            </a:r>
            <a:br>
              <a:rPr lang="en-US" noProof="0" dirty="0"/>
            </a:br>
            <a:r>
              <a:rPr lang="en-US" b="0" noProof="0" dirty="0"/>
              <a:t>Water Tank</a:t>
            </a:r>
            <a:endParaRPr lang="en-US" noProof="0" dirty="0"/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70352BAC-C046-C5FA-F7D3-7FA388466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17" y="1194566"/>
            <a:ext cx="10683766" cy="44688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108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C64D-0208-58A7-350C-C9AD4207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ED92620-47F2-58BB-A38E-A006B264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GLSP Example Model</a:t>
            </a:r>
            <a:br>
              <a:rPr lang="en-US" noProof="0" dirty="0"/>
            </a:br>
            <a:r>
              <a:rPr lang="en-US" b="0" noProof="0" dirty="0"/>
              <a:t>Drones</a:t>
            </a:r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03E529-3E70-669D-B891-30320FD3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6"/>
          <a:stretch>
            <a:fillRect/>
          </a:stretch>
        </p:blipFill>
        <p:spPr>
          <a:xfrm>
            <a:off x="874712" y="1030288"/>
            <a:ext cx="9930663" cy="582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322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FEE10-26B1-4789-54CC-A9943056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 Representation Theory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8A37E5-9048-A00D-0D0E-EC07C6FA83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030288"/>
            <a:ext cx="10580688" cy="4344987"/>
          </a:xfrm>
        </p:spPr>
        <p:txBody>
          <a:bodyPr/>
          <a:lstStyle/>
          <a:p>
            <a:r>
              <a:rPr lang="en-US" sz="1400" dirty="0"/>
              <a:t>Semiotic Clarity: </a:t>
            </a:r>
            <a:r>
              <a:rPr lang="en-US" sz="1400" b="0" dirty="0"/>
              <a:t>Each semantic construct should map to one distinct graphical symbol; violations produce redundancy, overload, excess, or deficit.</a:t>
            </a:r>
          </a:p>
          <a:p>
            <a:r>
              <a:rPr lang="en-US" sz="1400" dirty="0"/>
              <a:t>Perceptual Discriminability: </a:t>
            </a:r>
            <a:r>
              <a:rPr lang="en-US" sz="1400" b="0" dirty="0"/>
              <a:t>Symbols must be easy to tell apart; discriminability depends on the "visual distance" across variables such as shape, color, and size.</a:t>
            </a:r>
          </a:p>
          <a:p>
            <a:r>
              <a:rPr lang="en-US" sz="1400" dirty="0"/>
              <a:t>Semantic Transparency: </a:t>
            </a:r>
            <a:r>
              <a:rPr lang="en-US" sz="1400" b="0" dirty="0"/>
              <a:t>Symbols should visually suggest their meaning so that appearance provides intuitive cues and reduces learning effort.</a:t>
            </a:r>
          </a:p>
          <a:p>
            <a:r>
              <a:rPr lang="en-US" sz="1400" dirty="0"/>
              <a:t>Complexity Management: </a:t>
            </a:r>
            <a:r>
              <a:rPr lang="en-US" sz="1400" b="0" dirty="0"/>
              <a:t>Notations should offer mechanisms (for example, layered views) to present information incrementally and avoid cognitive overload.</a:t>
            </a:r>
          </a:p>
          <a:p>
            <a:r>
              <a:rPr lang="en-US" sz="1400" dirty="0"/>
              <a:t>Cognitive Integration: </a:t>
            </a:r>
            <a:r>
              <a:rPr lang="en-US" sz="1400" b="0" dirty="0"/>
              <a:t>Provide contextual anchors, overview maps, and cross-references so readers can relate individual diagrams to the larger system of representations.</a:t>
            </a:r>
          </a:p>
          <a:p>
            <a:r>
              <a:rPr lang="en-US" sz="1400" dirty="0"/>
              <a:t>Visual Expressiveness: </a:t>
            </a:r>
            <a:r>
              <a:rPr lang="en-US" sz="1400" b="0" dirty="0"/>
              <a:t>Leverage multiple visual channels (color, size, brightness, texture, position, etc.) so the notation can encode information across a richer perceptual space.</a:t>
            </a:r>
          </a:p>
          <a:p>
            <a:r>
              <a:rPr lang="en-US" sz="1400" dirty="0"/>
              <a:t>Dual Coding: </a:t>
            </a:r>
            <a:r>
              <a:rPr lang="en-US" sz="1400" b="0" dirty="0"/>
              <a:t>Combine concise textual labels or annotations with graphics to leverage both verbal and visual cognitive systems and improve comprehension and retention.</a:t>
            </a:r>
          </a:p>
          <a:p>
            <a:r>
              <a:rPr lang="en-US" sz="1400" dirty="0"/>
              <a:t>Graphic Economy: </a:t>
            </a:r>
            <a:r>
              <a:rPr lang="en-US" sz="1400" b="0" dirty="0"/>
              <a:t>Keep the visual vocabulary compact so distinct symbols remain within human discriminative abilities, especially for novice users.</a:t>
            </a:r>
          </a:p>
          <a:p>
            <a:r>
              <a:rPr lang="en-US" sz="1400" dirty="0"/>
              <a:t>Cognitive Fit: </a:t>
            </a:r>
            <a:r>
              <a:rPr lang="en-US" sz="1400" b="0" dirty="0"/>
              <a:t>Tailor the notation to task and audience, offering simplified and expert variants so the representation matches users’ goals and skills.</a:t>
            </a:r>
            <a:endParaRPr lang="de-DE" sz="1400" b="0" dirty="0"/>
          </a:p>
        </p:txBody>
      </p:sp>
    </p:spTree>
    <p:extLst>
      <p:ext uri="{BB962C8B-B14F-4D97-AF65-F5344CB8AC3E}">
        <p14:creationId xmlns:p14="http://schemas.microsoft.com/office/powerpoint/2010/main" val="130095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89150-F640-5968-E642-EE70E73E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0B228F5-77DE-134A-C702-36023E12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B-Event </a:t>
            </a:r>
            <a:r>
              <a:rPr lang="en-US" noProof="0" dirty="0" err="1"/>
              <a:t>Visualisation</a:t>
            </a:r>
            <a:br>
              <a:rPr lang="en-US" noProof="0" dirty="0"/>
            </a:br>
            <a:r>
              <a:rPr lang="en-US" b="0" noProof="0" dirty="0"/>
              <a:t>Comparison</a:t>
            </a:r>
            <a:endParaRPr lang="en-US" noProof="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54399B0-6E12-1907-2C6D-CF360CEE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56" y="1030288"/>
            <a:ext cx="10580687" cy="331497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B21BC64-26E4-31F1-8D86-E41C8DBAB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733" y="4345267"/>
            <a:ext cx="2418534" cy="184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4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94C9E-9695-DE01-A677-32C7ED60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FMBP Extension</a:t>
            </a:r>
            <a:br>
              <a:rPr lang="en-US" noProof="0" dirty="0"/>
            </a:br>
            <a:r>
              <a:rPr lang="en-US" b="0" noProof="0" dirty="0"/>
              <a:t>Context Source Decorator</a:t>
            </a:r>
            <a:endParaRPr lang="en-US" noProof="0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32E3B94-E508-67A0-3413-5780CF217C5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74712" y="1484313"/>
            <a:ext cx="6543519" cy="461233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96468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E6C9-B052-EF22-7212-DB9AB6B7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6AADF1-2FAE-F3E6-03E8-75D83156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FMBP Extension</a:t>
            </a:r>
            <a:br>
              <a:rPr lang="en-US" noProof="0" dirty="0"/>
            </a:br>
            <a:r>
              <a:rPr lang="en-US" b="0" noProof="0" dirty="0" err="1"/>
              <a:t>BEventStreamerExtension</a:t>
            </a:r>
            <a:endParaRPr lang="en-US" noProof="0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84F99D8-BE42-C1FB-AE4E-B08FD419515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74712" y="1484313"/>
            <a:ext cx="7624751" cy="43449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63670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9042E-4EA8-1D96-7B1C-07778A8E0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3A4740-EB39-2C76-F318-DDAB79E8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FMBP Extension</a:t>
            </a:r>
            <a:br>
              <a:rPr lang="en-US" noProof="0" dirty="0"/>
            </a:br>
            <a:r>
              <a:rPr lang="en-US" b="0" noProof="0" dirty="0" err="1"/>
              <a:t>EventStreamFactory</a:t>
            </a:r>
            <a:endParaRPr lang="en-US" noProof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354489C-99E3-0C32-E6FE-746E3F40C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2" y="1725178"/>
            <a:ext cx="9591593" cy="297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5852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853CDE-5235-A1E2-7345-776429E7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GLSP Client</a:t>
            </a:r>
            <a:br>
              <a:rPr lang="en-US" noProof="0" dirty="0"/>
            </a:br>
            <a:r>
              <a:rPr lang="en-US" b="0" noProof="0" dirty="0"/>
              <a:t>UVL Diagram Module</a:t>
            </a:r>
            <a:endParaRPr lang="en-US" noProof="0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F8437B1-1A62-4B6B-106B-374C7ADEDE9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874712" y="1484313"/>
            <a:ext cx="8722416" cy="44657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78721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7548F-786F-1A9F-5B2A-1341AC70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Models@run.time</a:t>
            </a:r>
            <a:r>
              <a:rPr lang="en-US" noProof="0" dirty="0"/>
              <a:t> in GLSP</a:t>
            </a:r>
            <a:br>
              <a:rPr lang="en-US" noProof="0" dirty="0"/>
            </a:br>
            <a:r>
              <a:rPr lang="en-US" b="0" noProof="0" dirty="0"/>
              <a:t>Commands &amp; Injection in GLSP Server</a:t>
            </a:r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3E8F8C-7230-9547-8D01-E0BD3C1D6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1" y="1307228"/>
            <a:ext cx="7531261" cy="180945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252F182-BEB9-D6CA-7FCC-99820CE40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1" y="3239389"/>
            <a:ext cx="7417248" cy="205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561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99A5-4984-76D1-7311-E16466979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C3307F-7BBB-60BD-D42C-15D454CE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Models@run.time</a:t>
            </a:r>
            <a:r>
              <a:rPr lang="en-US" noProof="0" dirty="0"/>
              <a:t> in GLSP</a:t>
            </a:r>
            <a:br>
              <a:rPr lang="en-US" noProof="0" dirty="0"/>
            </a:br>
            <a:r>
              <a:rPr lang="en-US" b="0" noProof="0" dirty="0"/>
              <a:t>Highlight dispatch</a:t>
            </a:r>
            <a:endParaRPr lang="en-US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4970714-361A-C0AB-77D2-32F542AD7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1" y="1395128"/>
            <a:ext cx="8656959" cy="43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181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E2CC-AAA4-8639-F188-C10C5325C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17BB-BD32-4F34-41F8-DB394089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Models@run.time</a:t>
            </a:r>
            <a:r>
              <a:rPr lang="en-US" noProof="0" dirty="0"/>
              <a:t> in GLSP</a:t>
            </a:r>
            <a:br>
              <a:rPr lang="en-US" noProof="0" dirty="0"/>
            </a:br>
            <a:r>
              <a:rPr lang="en-US" b="0" noProof="0" dirty="0"/>
              <a:t>Context Update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330E639-241E-0B19-96F7-9972A2C0F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2" y="1166770"/>
            <a:ext cx="7367767" cy="491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00659"/>
      </p:ext>
    </p:extLst>
  </p:cSld>
  <p:clrMapOvr>
    <a:masterClrMapping/>
  </p:clrMapOvr>
</p:sld>
</file>

<file path=ppt/theme/theme1.xml><?xml version="1.0" encoding="utf-8"?>
<a:theme xmlns:a="http://schemas.openxmlformats.org/drawingml/2006/main" name="TUD_2018_16zu9">
  <a:themeElements>
    <a:clrScheme name="TUD_2021-08_grün">
      <a:dk1>
        <a:srgbClr val="000000"/>
      </a:dk1>
      <a:lt1>
        <a:sysClr val="window" lastClr="FFFFFF"/>
      </a:lt1>
      <a:dk2>
        <a:srgbClr val="727277"/>
      </a:dk2>
      <a:lt2>
        <a:srgbClr val="FFFFFF"/>
      </a:lt2>
      <a:accent1>
        <a:srgbClr val="00305D"/>
      </a:accent1>
      <a:accent2>
        <a:srgbClr val="0069B4"/>
      </a:accent2>
      <a:accent3>
        <a:srgbClr val="009FE3"/>
      </a:accent3>
      <a:accent4>
        <a:srgbClr val="008244"/>
      </a:accent4>
      <a:accent5>
        <a:srgbClr val="65B32E"/>
      </a:accent5>
      <a:accent6>
        <a:srgbClr val="94C356"/>
      </a:accent6>
      <a:hlink>
        <a:srgbClr val="0069B4"/>
      </a:hlink>
      <a:folHlink>
        <a:srgbClr val="009FE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2.06_TUD_PPT_16zu9_Vorlage.potx" id="{294745C1-E1BC-44C1-8C9D-B4CB23BDF171}" vid="{41010231-A741-4371-A565-9EF1890B6372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2022-06_TUD_PPT_16zu9_Vorlage</Template>
  <TotalTime>0</TotalTime>
  <Words>4592</Words>
  <Application>Microsoft Office PowerPoint</Application>
  <PresentationFormat>Breitbild</PresentationFormat>
  <Paragraphs>411</Paragraphs>
  <Slides>46</Slides>
  <Notes>34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2" baseType="lpstr">
      <vt:lpstr>Wingdings</vt:lpstr>
      <vt:lpstr>Calibri</vt:lpstr>
      <vt:lpstr>Symbol</vt:lpstr>
      <vt:lpstr>Arial</vt:lpstr>
      <vt:lpstr>Open Sans</vt:lpstr>
      <vt:lpstr>TUD_2018_16zu9</vt:lpstr>
      <vt:lpstr>Graphical Management of Multiple Runtime Models  to Improve the Comprehension of Contextual Behavioral Programs</vt:lpstr>
      <vt:lpstr>Structure Defense of Master Thesis</vt:lpstr>
      <vt:lpstr>Research Questions Motivation of this thesis</vt:lpstr>
      <vt:lpstr>Background</vt:lpstr>
      <vt:lpstr>Behavioral Programming Software Development Paradigm</vt:lpstr>
      <vt:lpstr>Behavioral Programming Water Tank Example</vt:lpstr>
      <vt:lpstr>Universal Variability Language Feature Modeling</vt:lpstr>
      <vt:lpstr>Universal Variability Language Mobile Phone Example</vt:lpstr>
      <vt:lpstr>Graphical Language Server Platform Technical foundation</vt:lpstr>
      <vt:lpstr>State Of The Art</vt:lpstr>
      <vt:lpstr>State Of The Art Feature Modeling</vt:lpstr>
      <vt:lpstr>State Of The Art Behavioral Programming</vt:lpstr>
      <vt:lpstr>State Of The Art Behavioral Programming</vt:lpstr>
      <vt:lpstr>State Of The Art Behavioral Programming</vt:lpstr>
      <vt:lpstr>State Of The Art Research Gap</vt:lpstr>
      <vt:lpstr>Implementation</vt:lpstr>
      <vt:lpstr>Implementation Framework Selection</vt:lpstr>
      <vt:lpstr>Implementation Extending UVL Metamodel</vt:lpstr>
      <vt:lpstr>PowerPoint-Präsentation</vt:lpstr>
      <vt:lpstr>Implementation Extending UVL Metamodel</vt:lpstr>
      <vt:lpstr>Implementation Extending FMBP</vt:lpstr>
      <vt:lpstr>Implementation GLSP package structure</vt:lpstr>
      <vt:lpstr>Implementation Extending uvl.glsp to uvl.bp.glsp</vt:lpstr>
      <vt:lpstr>Implementation Extending uvl.glsp to uvl.bp.glsp</vt:lpstr>
      <vt:lpstr>Implementation GLSP-based multi-profile VS Code extensions</vt:lpstr>
      <vt:lpstr>Demo</vt:lpstr>
      <vt:lpstr>PowerPoint-Präsentation</vt:lpstr>
      <vt:lpstr>Evaluation</vt:lpstr>
      <vt:lpstr>Evaluation Contributions</vt:lpstr>
      <vt:lpstr>Future Work Improve the proposed tool</vt:lpstr>
      <vt:lpstr>Thank you for your attention</vt:lpstr>
      <vt:lpstr>Bibliography References to the literature and images</vt:lpstr>
      <vt:lpstr>PowerPoint-Präsentation</vt:lpstr>
      <vt:lpstr>Appendix</vt:lpstr>
      <vt:lpstr>GLSP Example Model Mobile Phone</vt:lpstr>
      <vt:lpstr>GLSP Example Model Water Tank</vt:lpstr>
      <vt:lpstr>GLSP Example Model Drones</vt:lpstr>
      <vt:lpstr>Visual Representation Theory</vt:lpstr>
      <vt:lpstr>B-Event Visualisation Comparison</vt:lpstr>
      <vt:lpstr>FMBP Extension Context Source Decorator</vt:lpstr>
      <vt:lpstr>FMBP Extension BEventStreamerExtension</vt:lpstr>
      <vt:lpstr>FMBP Extension EventStreamFactory</vt:lpstr>
      <vt:lpstr>GLSP Client UVL Diagram Module</vt:lpstr>
      <vt:lpstr>Models@run.time in GLSP Commands &amp; Injection in GLSP Server</vt:lpstr>
      <vt:lpstr>Models@run.time in GLSP Highlight dispatch</vt:lpstr>
      <vt:lpstr>Models@run.time in GLSP Context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Graphical Management of Multiple Runtime Models to Improve the Comprehension of Contextual Behavioral Programs</dc:title>
  <dc:subject>Präsentationsvorlage</dc:subject>
  <dc:creator>29e3a959, 2404b006</dc:creator>
  <cp:lastModifiedBy>29e3a959, 2404b006</cp:lastModifiedBy>
  <cp:revision>60</cp:revision>
  <dcterms:created xsi:type="dcterms:W3CDTF">2023-09-09T12:44:19Z</dcterms:created>
  <dcterms:modified xsi:type="dcterms:W3CDTF">2026-06-30T14:40:13Z</dcterms:modified>
</cp:coreProperties>
</file>